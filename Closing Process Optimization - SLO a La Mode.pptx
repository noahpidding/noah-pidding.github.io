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 Thin"/>
      <p:regular r:id="rId14"/>
      <p:bold r:id="rId15"/>
      <p:italic r:id="rId16"/>
      <p:boldItalic r:id="rId17"/>
    </p:embeddedFont>
    <p:embeddedFont>
      <p:font typeface="Roboto Medium"/>
      <p:regular r:id="rId18"/>
      <p:bold r:id="rId19"/>
      <p:italic r:id="rId20"/>
      <p:boldItalic r:id="rId21"/>
    </p:embeddedFont>
    <p:embeddedFont>
      <p:font typeface="Roboto"/>
      <p:regular r:id="rId22"/>
      <p:bold r:id="rId23"/>
      <p:italic r:id="rId24"/>
      <p:boldItalic r:id="rId25"/>
    </p:embeddedFont>
    <p:embeddedFont>
      <p:font typeface="Average"/>
      <p:regular r:id="rId26"/>
    </p:embeddedFont>
    <p:embeddedFont>
      <p:font typeface="Oswald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edium-italic.fntdata"/><Relationship Id="rId22" Type="http://schemas.openxmlformats.org/officeDocument/2006/relationships/font" Target="fonts/Roboto-regular.fntdata"/><Relationship Id="rId21" Type="http://schemas.openxmlformats.org/officeDocument/2006/relationships/font" Target="fonts/RobotoMedium-boldItalic.fntdata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verage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Oswald-bold.fntdata"/><Relationship Id="rId27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obotoThin-bold.fntdata"/><Relationship Id="rId14" Type="http://schemas.openxmlformats.org/officeDocument/2006/relationships/font" Target="fonts/RobotoThin-regular.fntdata"/><Relationship Id="rId17" Type="http://schemas.openxmlformats.org/officeDocument/2006/relationships/font" Target="fonts/RobotoThin-boldItalic.fntdata"/><Relationship Id="rId16" Type="http://schemas.openxmlformats.org/officeDocument/2006/relationships/font" Target="fonts/RobotoThin-italic.fntdata"/><Relationship Id="rId19" Type="http://schemas.openxmlformats.org/officeDocument/2006/relationships/font" Target="fonts/RobotoMedium-bold.fntdata"/><Relationship Id="rId18" Type="http://schemas.openxmlformats.org/officeDocument/2006/relationships/font" Target="fonts/Roboto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194e6f845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194e6f845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Mention not being complex as initially thought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194e6f845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194e6f845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Double backing </a:t>
            </a:r>
            <a:r>
              <a:rPr lang="en"/>
              <a:t>tasks: Mopping, taking out trash, wiping counters and tables, and stacking chairs.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194e6f845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194e6f845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194e6f845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194e6f845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194e6f845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194e6f845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Sort:  Saves time during high-volume periods </a:t>
            </a:r>
            <a:br>
              <a:rPr lang="en"/>
            </a:br>
            <a:r>
              <a:rPr lang="en"/>
              <a:t>Set: Reduces walking distance, saves time, and maintains a cleaner workspace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Standardize: Enhances consistency and efficiency</a:t>
            </a:r>
            <a:br>
              <a:rPr lang="en"/>
            </a:br>
            <a:r>
              <a:rPr lang="en"/>
              <a:t>Sustain: Encourages a culture of continuous improvement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194e6f845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194e6f845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194e6f8451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194e6f845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Closing Process Optimization for Slo a la mode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Noah, Rowan, &amp; Declan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Location and Process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552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Observed</a:t>
            </a:r>
            <a:r>
              <a:rPr lang="en"/>
              <a:t> the SLO à la Mode closing process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Reasons:</a:t>
            </a:r>
            <a:endParaRPr/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Employees flagged this process</a:t>
            </a:r>
            <a:endParaRPr/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Owner only incurs costs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Focused observation on: </a:t>
            </a:r>
            <a:endParaRPr/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Task order and duration</a:t>
            </a:r>
            <a:endParaRPr/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Worker movement through store</a:t>
            </a:r>
            <a:endParaRPr/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1849" y="278812"/>
            <a:ext cx="3110249" cy="4585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8938800" y="451825"/>
            <a:ext cx="914400" cy="4239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Findings and Improvements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152475"/>
            <a:ext cx="4419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Results</a:t>
            </a:r>
            <a:endParaRPr sz="1900"/>
          </a:p>
          <a:p>
            <a:pPr indent="-323850" lvl="1" marL="9144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Single worker travels a lot</a:t>
            </a:r>
            <a:endParaRPr sz="1500"/>
          </a:p>
          <a:p>
            <a:pPr indent="-323850" lvl="1" marL="9144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Lots of double backing </a:t>
            </a:r>
            <a:endParaRPr sz="1500"/>
          </a:p>
          <a:p>
            <a:pPr indent="-34925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Improvement Idea</a:t>
            </a:r>
            <a:endParaRPr sz="1900"/>
          </a:p>
          <a:p>
            <a:pPr indent="-323850" lvl="1" marL="9144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All in one cleaning cart</a:t>
            </a:r>
            <a:endParaRPr sz="1500"/>
          </a:p>
          <a:p>
            <a:pPr indent="-323850" lvl="1" marL="9144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Saves ~3-5 minutes of </a:t>
            </a:r>
            <a:r>
              <a:rPr lang="en" sz="1500"/>
              <a:t>unnecessary</a:t>
            </a:r>
            <a:r>
              <a:rPr lang="en" sz="1500"/>
              <a:t> travel</a:t>
            </a:r>
            <a:endParaRPr sz="1500"/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0625" y="451850"/>
            <a:ext cx="4239775" cy="423977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4165825"/>
            <a:ext cx="4419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8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/>
              <a:t>One Pass Through Store!!</a:t>
            </a:r>
            <a:endParaRPr sz="1300"/>
          </a:p>
        </p:txBody>
      </p:sp>
      <p:cxnSp>
        <p:nvCxnSpPr>
          <p:cNvPr id="77" name="Google Shape;77;p15"/>
          <p:cNvCxnSpPr>
            <a:stCxn id="78" idx="1"/>
          </p:cNvCxnSpPr>
          <p:nvPr/>
        </p:nvCxnSpPr>
        <p:spPr>
          <a:xfrm rot="10800000">
            <a:off x="7797900" y="4121075"/>
            <a:ext cx="431700" cy="202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" name="Google Shape;78;p15"/>
          <p:cNvSpPr txBox="1"/>
          <p:nvPr/>
        </p:nvSpPr>
        <p:spPr>
          <a:xfrm>
            <a:off x="8229600" y="4131425"/>
            <a:ext cx="914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wheels</a:t>
            </a:r>
            <a:endParaRPr sz="1300">
              <a:solidFill>
                <a:srgbClr val="FF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79" name="Google Shape;79;p15"/>
          <p:cNvCxnSpPr>
            <a:stCxn id="80" idx="1"/>
          </p:cNvCxnSpPr>
          <p:nvPr/>
        </p:nvCxnSpPr>
        <p:spPr>
          <a:xfrm flipH="1">
            <a:off x="7746000" y="731375"/>
            <a:ext cx="483600" cy="652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" name="Google Shape;80;p15"/>
          <p:cNvSpPr txBox="1"/>
          <p:nvPr/>
        </p:nvSpPr>
        <p:spPr>
          <a:xfrm>
            <a:off x="8229600" y="538925"/>
            <a:ext cx="914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Trash </a:t>
            </a:r>
            <a:endParaRPr sz="1300">
              <a:solidFill>
                <a:srgbClr val="FF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5032925" y="567475"/>
            <a:ext cx="914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Cleaning Supplies</a:t>
            </a:r>
            <a:r>
              <a:rPr lang="en" sz="130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 </a:t>
            </a:r>
            <a:endParaRPr sz="1300">
              <a:solidFill>
                <a:srgbClr val="FF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82" name="Google Shape;82;p15"/>
          <p:cNvCxnSpPr/>
          <p:nvPr/>
        </p:nvCxnSpPr>
        <p:spPr>
          <a:xfrm>
            <a:off x="5825175" y="1032825"/>
            <a:ext cx="619800" cy="258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" name="Google Shape;83;p15"/>
          <p:cNvSpPr txBox="1"/>
          <p:nvPr/>
        </p:nvSpPr>
        <p:spPr>
          <a:xfrm>
            <a:off x="4730700" y="4121075"/>
            <a:ext cx="914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Mop</a:t>
            </a:r>
            <a:endParaRPr sz="1300">
              <a:solidFill>
                <a:srgbClr val="FF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84" name="Google Shape;84;p15"/>
          <p:cNvCxnSpPr/>
          <p:nvPr/>
        </p:nvCxnSpPr>
        <p:spPr>
          <a:xfrm flipH="1" rot="10800000">
            <a:off x="4978250" y="3553175"/>
            <a:ext cx="330600" cy="598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" name="Google Shape;85;p15"/>
          <p:cNvSpPr txBox="1"/>
          <p:nvPr/>
        </p:nvSpPr>
        <p:spPr>
          <a:xfrm>
            <a:off x="8229600" y="1986750"/>
            <a:ext cx="1017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Additional Storage</a:t>
            </a:r>
            <a:endParaRPr sz="1300">
              <a:solidFill>
                <a:srgbClr val="FF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86" name="Google Shape;86;p15"/>
          <p:cNvCxnSpPr/>
          <p:nvPr/>
        </p:nvCxnSpPr>
        <p:spPr>
          <a:xfrm flipH="1">
            <a:off x="7240200" y="2269675"/>
            <a:ext cx="972300" cy="456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" name="Google Shape;87;p15"/>
          <p:cNvCxnSpPr>
            <a:stCxn id="85" idx="1"/>
          </p:cNvCxnSpPr>
          <p:nvPr/>
        </p:nvCxnSpPr>
        <p:spPr>
          <a:xfrm flipH="1">
            <a:off x="7126500" y="2279250"/>
            <a:ext cx="1103100" cy="1118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 Examination, MUDA</a:t>
            </a:r>
            <a:endParaRPr/>
          </a:p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Spaghetti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MUDA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Motion ex: Trash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Transport ex: Lids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Inventory ex: Ice cream</a:t>
            </a:r>
            <a:endParaRPr/>
          </a:p>
        </p:txBody>
      </p:sp>
      <p:pic>
        <p:nvPicPr>
          <p:cNvPr id="94" name="Google Shape;9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9725" y="633325"/>
            <a:ext cx="4304525" cy="193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Curve,Improvement</a:t>
            </a:r>
            <a:endParaRPr/>
          </a:p>
        </p:txBody>
      </p:sp>
      <p:sp>
        <p:nvSpPr>
          <p:cNvPr id="100" name="Google Shape;10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Improvement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Get chairs that will fit over the tables.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Reduces bottleneck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L/C Analysis - high learning rate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5825" y="819150"/>
            <a:ext cx="3346076" cy="223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5S Implementation</a:t>
            </a:r>
            <a:endParaRPr/>
          </a:p>
        </p:txBody>
      </p:sp>
      <p:grpSp>
        <p:nvGrpSpPr>
          <p:cNvPr id="107" name="Google Shape;107;p18"/>
          <p:cNvGrpSpPr/>
          <p:nvPr/>
        </p:nvGrpSpPr>
        <p:grpSpPr>
          <a:xfrm>
            <a:off x="145200" y="3788354"/>
            <a:ext cx="5957975" cy="643500"/>
            <a:chOff x="1593000" y="2322568"/>
            <a:chExt cx="5957975" cy="643500"/>
          </a:xfrm>
        </p:grpSpPr>
        <p:sp>
          <p:nvSpPr>
            <p:cNvPr id="108" name="Google Shape;108;p18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8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0C57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8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C57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8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Sustain</a:t>
              </a:r>
              <a:endParaRPr sz="10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112" name="Google Shape;112;p18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0D5CDF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8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0E63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05</a:t>
              </a: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114" name="Google Shape;114;p18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2857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7D3"/>
                </a:buClr>
                <a:buSzPts val="900"/>
                <a:buFont typeface="Roboto"/>
                <a:buChar char="●"/>
              </a:pPr>
              <a:r>
                <a:rPr lang="en" sz="9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Employee training, visual aids, and scorecards</a:t>
              </a:r>
              <a:endParaRPr sz="9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5" name="Google Shape;115;p18"/>
          <p:cNvGrpSpPr/>
          <p:nvPr/>
        </p:nvGrpSpPr>
        <p:grpSpPr>
          <a:xfrm>
            <a:off x="145200" y="3133487"/>
            <a:ext cx="5957975" cy="643500"/>
            <a:chOff x="1593000" y="2322568"/>
            <a:chExt cx="5957975" cy="643500"/>
          </a:xfrm>
        </p:grpSpPr>
        <p:sp>
          <p:nvSpPr>
            <p:cNvPr id="116" name="Google Shape;116;p18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8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0C57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8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C57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8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Standardize</a:t>
              </a:r>
              <a:endParaRPr sz="10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120" name="Google Shape;120;p18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0D5CDF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8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0E63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04</a:t>
              </a: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122" name="Google Shape;122;p18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2857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7D3"/>
                </a:buClr>
                <a:buSzPts val="900"/>
                <a:buFont typeface="Roboto"/>
                <a:buChar char="●"/>
              </a:pPr>
              <a:r>
                <a:rPr lang="en" sz="9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Detailed closing checklist</a:t>
              </a:r>
              <a:endParaRPr sz="9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3" name="Google Shape;123;p18"/>
          <p:cNvGrpSpPr/>
          <p:nvPr/>
        </p:nvGrpSpPr>
        <p:grpSpPr>
          <a:xfrm>
            <a:off x="145200" y="2478594"/>
            <a:ext cx="5957975" cy="643500"/>
            <a:chOff x="1593000" y="2322568"/>
            <a:chExt cx="5957975" cy="643500"/>
          </a:xfrm>
        </p:grpSpPr>
        <p:sp>
          <p:nvSpPr>
            <p:cNvPr id="124" name="Google Shape;124;p18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8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0C57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8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C57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Shine</a:t>
              </a:r>
              <a:endParaRPr sz="10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128" name="Google Shape;128;p18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0D5CDF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8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0E63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03</a:t>
              </a: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130" name="Google Shape;130;p18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2857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7D3"/>
                </a:buClr>
                <a:buSzPts val="900"/>
                <a:buFont typeface="Roboto"/>
                <a:buChar char="●"/>
              </a:pPr>
              <a:r>
                <a:rPr lang="en" sz="9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Daily cleaning schedule ensures continuous cleanliness</a:t>
              </a:r>
              <a:endParaRPr sz="9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1" name="Google Shape;131;p18"/>
          <p:cNvGrpSpPr/>
          <p:nvPr/>
        </p:nvGrpSpPr>
        <p:grpSpPr>
          <a:xfrm>
            <a:off x="145200" y="1823735"/>
            <a:ext cx="5957975" cy="643500"/>
            <a:chOff x="1593000" y="2322568"/>
            <a:chExt cx="5957975" cy="643500"/>
          </a:xfrm>
        </p:grpSpPr>
        <p:sp>
          <p:nvSpPr>
            <p:cNvPr id="132" name="Google Shape;132;p18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8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0C57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8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C57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8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Set in Order</a:t>
              </a:r>
              <a:endParaRPr sz="10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136" name="Google Shape;136;p18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0D5CDF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8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0E63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02</a:t>
              </a: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138" name="Google Shape;138;p18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2857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7D3"/>
                </a:buClr>
                <a:buSzPts val="900"/>
                <a:buFont typeface="Roboto"/>
                <a:buChar char="●"/>
              </a:pPr>
              <a:r>
                <a:rPr lang="en" sz="9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Designated bucket for used towels (Figure 1-2)</a:t>
              </a:r>
              <a:endParaRPr sz="9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9" name="Google Shape;139;p18"/>
          <p:cNvGrpSpPr/>
          <p:nvPr/>
        </p:nvGrpSpPr>
        <p:grpSpPr>
          <a:xfrm>
            <a:off x="145200" y="1168860"/>
            <a:ext cx="5957975" cy="643500"/>
            <a:chOff x="1593000" y="2322568"/>
            <a:chExt cx="5957975" cy="643500"/>
          </a:xfrm>
        </p:grpSpPr>
        <p:sp>
          <p:nvSpPr>
            <p:cNvPr id="140" name="Google Shape;140;p18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8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0C57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8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C57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8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Sort</a:t>
              </a:r>
              <a:endParaRPr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4" name="Google Shape;144;p18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0D5CDF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8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0E63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01</a:t>
              </a: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146" name="Google Shape;146;p18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2857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7D3"/>
                </a:buClr>
                <a:buSzPts val="900"/>
                <a:buFont typeface="Roboto"/>
                <a:buChar char="●"/>
              </a:pPr>
              <a:r>
                <a:rPr lang="en" sz="9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Mounted scoop bin under ice cream station (Figure 1-1)</a:t>
              </a:r>
              <a:endParaRPr sz="9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7" y="1168850"/>
            <a:ext cx="2727892" cy="129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5913" y="3381225"/>
            <a:ext cx="2889663" cy="151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79975" y="3509000"/>
            <a:ext cx="57270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6218550" y="707150"/>
            <a:ext cx="280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Figure 1-1: Scoop bin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6218550" y="2916950"/>
            <a:ext cx="280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Figure 1-2: Bucket for towels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Standardized Checklist for Efficiency &amp; Consistency</a:t>
            </a:r>
            <a:endParaRPr/>
          </a:p>
        </p:txBody>
      </p:sp>
      <p:sp>
        <p:nvSpPr>
          <p:cNvPr id="157" name="Google Shape;157;p19"/>
          <p:cNvSpPr/>
          <p:nvPr/>
        </p:nvSpPr>
        <p:spPr>
          <a:xfrm>
            <a:off x="0" y="885200"/>
            <a:ext cx="3349200" cy="669000"/>
          </a:xfrm>
          <a:prstGeom prst="homePlate">
            <a:avLst>
              <a:gd fmla="val 50000" name="adj"/>
            </a:avLst>
          </a:prstGeom>
          <a:solidFill>
            <a:srgbClr val="0942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What it currently looks like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58" name="Google Shape;158;p19"/>
          <p:cNvGrpSpPr/>
          <p:nvPr/>
        </p:nvGrpSpPr>
        <p:grpSpPr>
          <a:xfrm>
            <a:off x="2973375" y="884975"/>
            <a:ext cx="3898200" cy="3483050"/>
            <a:chOff x="2973375" y="1189775"/>
            <a:chExt cx="3898200" cy="3483050"/>
          </a:xfrm>
        </p:grpSpPr>
        <p:sp>
          <p:nvSpPr>
            <p:cNvPr id="159" name="Google Shape;159;p19"/>
            <p:cNvSpPr/>
            <p:nvPr/>
          </p:nvSpPr>
          <p:spPr>
            <a:xfrm>
              <a:off x="2973375" y="1189775"/>
              <a:ext cx="3898200" cy="669000"/>
            </a:xfrm>
            <a:prstGeom prst="chevron">
              <a:avLst>
                <a:gd fmla="val 50000" name="adj"/>
              </a:avLst>
            </a:prstGeom>
            <a:solidFill>
              <a:srgbClr val="0C57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Improvement Idea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0" name="Google Shape;160;p19"/>
            <p:cNvSpPr txBox="1"/>
            <p:nvPr/>
          </p:nvSpPr>
          <p:spPr>
            <a:xfrm>
              <a:off x="4441250" y="2057125"/>
              <a:ext cx="2077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1" name="Google Shape;161;p19"/>
          <p:cNvGrpSpPr/>
          <p:nvPr/>
        </p:nvGrpSpPr>
        <p:grpSpPr>
          <a:xfrm>
            <a:off x="6396739" y="884975"/>
            <a:ext cx="2541300" cy="3483050"/>
            <a:chOff x="6396739" y="1189775"/>
            <a:chExt cx="2541300" cy="3483050"/>
          </a:xfrm>
        </p:grpSpPr>
        <p:sp>
          <p:nvSpPr>
            <p:cNvPr id="162" name="Google Shape;162;p19"/>
            <p:cNvSpPr/>
            <p:nvPr/>
          </p:nvSpPr>
          <p:spPr>
            <a:xfrm>
              <a:off x="6396739" y="1189775"/>
              <a:ext cx="2541300" cy="669000"/>
            </a:xfrm>
            <a:prstGeom prst="chevron">
              <a:avLst>
                <a:gd fmla="val 50000" name="adj"/>
              </a:avLst>
            </a:prstGeom>
            <a:solidFill>
              <a:srgbClr val="0E63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Future Steps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3" name="Google Shape;163;p19"/>
            <p:cNvSpPr txBox="1"/>
            <p:nvPr/>
          </p:nvSpPr>
          <p:spPr>
            <a:xfrm>
              <a:off x="6578525" y="2057125"/>
              <a:ext cx="22539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3048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➔"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Conduct time and motion studies for optimized closing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64" name="Google Shape;16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1403" y="1644725"/>
            <a:ext cx="3280873" cy="3482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4">
            <a:alphaModFix/>
          </a:blip>
          <a:srcRect b="19155" l="17467" r="16988" t="19112"/>
          <a:stretch/>
        </p:blipFill>
        <p:spPr>
          <a:xfrm>
            <a:off x="239475" y="1720071"/>
            <a:ext cx="2541300" cy="3191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171" name="Google Shape;17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