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Roboto Thin"/>
      <p:regular r:id="rId25"/>
      <p:bold r:id="rId26"/>
      <p:italic r:id="rId27"/>
      <p:boldItalic r:id="rId28"/>
    </p:embeddedFont>
    <p:embeddedFont>
      <p:font typeface="Roboto Medium"/>
      <p:regular r:id="rId29"/>
      <p:bold r:id="rId30"/>
      <p:italic r:id="rId31"/>
      <p:boldItalic r:id="rId32"/>
    </p:embeddedFont>
    <p:embeddedFont>
      <p:font typeface="Roboto"/>
      <p:regular r:id="rId33"/>
      <p:bold r:id="rId34"/>
      <p:italic r:id="rId35"/>
      <p:boldItalic r:id="rId36"/>
    </p:embeddedFont>
    <p:embeddedFont>
      <p:font typeface="Century Gothic"/>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3CB8AF1-AA57-4808-B51F-CC07D759BD55}">
  <a:tblStyle styleId="{73CB8AF1-AA57-4808-B51F-CC07D759BD5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enturyGothic-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Thin-bold.fntdata"/><Relationship Id="rId25" Type="http://schemas.openxmlformats.org/officeDocument/2006/relationships/font" Target="fonts/RobotoThin-regular.fntdata"/><Relationship Id="rId28" Type="http://schemas.openxmlformats.org/officeDocument/2006/relationships/font" Target="fonts/RobotoThin-boldItalic.fntdata"/><Relationship Id="rId27" Type="http://schemas.openxmlformats.org/officeDocument/2006/relationships/font" Target="fonts/RobotoThin-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Medium-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Medium-italic.fntdata"/><Relationship Id="rId30" Type="http://schemas.openxmlformats.org/officeDocument/2006/relationships/font" Target="fonts/RobotoMedium-bold.fntdata"/><Relationship Id="rId11" Type="http://schemas.openxmlformats.org/officeDocument/2006/relationships/slide" Target="slides/slide4.xml"/><Relationship Id="rId33" Type="http://schemas.openxmlformats.org/officeDocument/2006/relationships/font" Target="fonts/Roboto-regular.fntdata"/><Relationship Id="rId10" Type="http://schemas.openxmlformats.org/officeDocument/2006/relationships/slide" Target="slides/slide3.xml"/><Relationship Id="rId32" Type="http://schemas.openxmlformats.org/officeDocument/2006/relationships/font" Target="fonts/RobotoMedium-boldItalic.fntdata"/><Relationship Id="rId13" Type="http://schemas.openxmlformats.org/officeDocument/2006/relationships/slide" Target="slides/slide6.xml"/><Relationship Id="rId35" Type="http://schemas.openxmlformats.org/officeDocument/2006/relationships/font" Target="fonts/Roboto-italic.fntdata"/><Relationship Id="rId12" Type="http://schemas.openxmlformats.org/officeDocument/2006/relationships/slide" Target="slides/slide5.xml"/><Relationship Id="rId34" Type="http://schemas.openxmlformats.org/officeDocument/2006/relationships/font" Target="fonts/Roboto-bold.fntdata"/><Relationship Id="rId15" Type="http://schemas.openxmlformats.org/officeDocument/2006/relationships/slide" Target="slides/slide8.xml"/><Relationship Id="rId37" Type="http://schemas.openxmlformats.org/officeDocument/2006/relationships/font" Target="fonts/CenturyGothic-regular.fntdata"/><Relationship Id="rId14" Type="http://schemas.openxmlformats.org/officeDocument/2006/relationships/slide" Target="slides/slide7.xml"/><Relationship Id="rId36" Type="http://schemas.openxmlformats.org/officeDocument/2006/relationships/font" Target="fonts/Roboto-boldItalic.fntdata"/><Relationship Id="rId17" Type="http://schemas.openxmlformats.org/officeDocument/2006/relationships/slide" Target="slides/slide10.xml"/><Relationship Id="rId39" Type="http://schemas.openxmlformats.org/officeDocument/2006/relationships/font" Target="fonts/CenturyGothic-italic.fntdata"/><Relationship Id="rId16" Type="http://schemas.openxmlformats.org/officeDocument/2006/relationships/slide" Target="slides/slide9.xml"/><Relationship Id="rId38" Type="http://schemas.openxmlformats.org/officeDocument/2006/relationships/font" Target="fonts/CenturyGothic-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fc3294846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fc3294846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32bceaff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32bceaff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Jen - cloud architect</a:t>
            </a:r>
            <a:endParaRPr/>
          </a:p>
          <a:p>
            <a:pPr indent="0" lvl="0" marL="0" rtl="0" algn="l">
              <a:spcBef>
                <a:spcPts val="0"/>
              </a:spcBef>
              <a:spcAft>
                <a:spcPts val="0"/>
              </a:spcAft>
              <a:buNone/>
            </a:pPr>
            <a:r>
              <a:rPr lang="en"/>
              <a:t>Tim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Salesforce solutions - optimize processes and make data driven business decisions</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32bceaff2c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32bceaff2c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Aryan Notes</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JourneyBlazers currently faces a significant challenge due to the minimal resources allocated toward advertising. This lack of investment has directly resulted in low brand awareness among potential customers, limiting their ability to attract new clients and expand their reach</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e3dab3411c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e3dab3411c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32c37cb619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32c37cb619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Account executives because they’re responsible for maintaining customer relationship and whether or not they buy new Salesforce Licenses or upgrade existing ones using Journey Blazers</a:t>
            </a:r>
            <a:endParaRPr/>
          </a:p>
          <a:p>
            <a:pPr indent="0" lvl="0" marL="0" rtl="0" algn="l">
              <a:spcBef>
                <a:spcPts val="0"/>
              </a:spcBef>
              <a:spcAft>
                <a:spcPts val="0"/>
              </a:spcAft>
              <a:buNone/>
            </a:pPr>
            <a:r>
              <a:rPr lang="en"/>
              <a:t>Leadership because they had the executive and decision power and decide if they need Journey Blazers. They make all crucial decisions here with these licenses.</a:t>
            </a:r>
            <a:endParaRPr/>
          </a:p>
          <a:p>
            <a:pPr indent="0" lvl="0" marL="0" rtl="0" algn="l">
              <a:spcBef>
                <a:spcPts val="0"/>
              </a:spcBef>
              <a:spcAft>
                <a:spcPts val="0"/>
              </a:spcAft>
              <a:buNone/>
            </a:pPr>
            <a:r>
              <a:rPr lang="en"/>
              <a:t>Last is SalesForce Employees, we planned to target them as those employees might promote JourneyBlazers services other businesses that need assistance with the SalesForce licenses.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32c37cb619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32c37cb619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3e9376bed3_26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3e9376bed3_26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3c30793028_1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3c30793028_1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Headline engages, captures attention</a:t>
            </a:r>
            <a:endParaRPr/>
          </a:p>
          <a:p>
            <a:pPr indent="-298450" lvl="0" marL="457200" rtl="0" algn="l">
              <a:spcBef>
                <a:spcPts val="0"/>
              </a:spcBef>
              <a:spcAft>
                <a:spcPts val="0"/>
              </a:spcAft>
              <a:buSzPts val="1100"/>
              <a:buChar char="-"/>
            </a:pPr>
            <a:r>
              <a:rPr lang="en"/>
              <a:t>Tagline: inform, persuade, build credibility</a:t>
            </a:r>
            <a:endParaRPr/>
          </a:p>
          <a:p>
            <a:pPr indent="-298450" lvl="0" marL="457200" rtl="0" algn="l">
              <a:spcBef>
                <a:spcPts val="0"/>
              </a:spcBef>
              <a:spcAft>
                <a:spcPts val="0"/>
              </a:spcAft>
              <a:buSzPts val="1100"/>
              <a:buChar char="-"/>
            </a:pPr>
            <a:r>
              <a:rPr lang="en"/>
              <a:t>CTA with contact info - generate leads</a:t>
            </a:r>
            <a:endParaRPr/>
          </a:p>
          <a:p>
            <a:pPr indent="-298450" lvl="0" marL="457200" rtl="0" algn="l">
              <a:spcBef>
                <a:spcPts val="0"/>
              </a:spcBef>
              <a:spcAft>
                <a:spcPts val="0"/>
              </a:spcAft>
              <a:buSzPts val="1100"/>
              <a:buChar char="-"/>
            </a:pPr>
            <a:r>
              <a:rPr lang="en"/>
              <a:t>Signature jb purple for brand recognition/association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3c5f5ca25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3c5f5ca25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3c5f5ca25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3c5f5ca25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3c5f5ca25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3c5f5ca25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3c5f5ca25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3c5f5ca25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3c5f5ca257_0_1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3c5f5ca257_0_1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3c5f5ca257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3c5f5ca25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3c27c0203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3c27c0203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After the case studies/design process, we launched $500, month-long ad campaign 2 weeks ago. That being said, we are still waiting on the results so that we can use Looker studio to visualize effectiveness of campaign thru cost efficiency and conversion rates. However, because of communication issues on JourneyBlazers side which led to a delayed launch, we are unfortunately not going to get the chance to do so.</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fc3294846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fc3294846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fc3294846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fc3294846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Importance of adapting and adjusting on the fly</a:t>
            </a:r>
            <a:endParaRPr/>
          </a:p>
          <a:p>
            <a:pPr indent="0" lvl="0" marL="0" rtl="0" algn="l">
              <a:spcBef>
                <a:spcPts val="0"/>
              </a:spcBef>
              <a:spcAft>
                <a:spcPts val="0"/>
              </a:spcAft>
              <a:buNone/>
            </a:pPr>
            <a:r>
              <a:rPr lang="en"/>
              <a:t>	-htings dont go as planeed - shitfting priorities or unexpected challenges, key is to quickly access the situation, make adjustments, and keep moving forward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188125" y="3252425"/>
            <a:ext cx="4597800" cy="792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3000"/>
              <a:buFont typeface="Century Gothic"/>
              <a:buNone/>
              <a:defRPr sz="3000">
                <a:solidFill>
                  <a:schemeClr val="lt1"/>
                </a:solidFill>
                <a:latin typeface="Century Gothic"/>
                <a:ea typeface="Century Gothic"/>
                <a:cs typeface="Century Gothic"/>
                <a:sym typeface="Century Gothic"/>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3"/>
          <p:cNvSpPr txBox="1"/>
          <p:nvPr>
            <p:ph type="title"/>
          </p:nvPr>
        </p:nvSpPr>
        <p:spPr>
          <a:xfrm>
            <a:off x="1481275" y="1981950"/>
            <a:ext cx="63054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750"/>
              <a:buNone/>
              <a:defRPr sz="475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 name="Google Shape;1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3"/>
          <p:cNvSpPr/>
          <p:nvPr/>
        </p:nvSpPr>
        <p:spPr>
          <a:xfrm>
            <a:off x="1592450" y="1403550"/>
            <a:ext cx="1377300" cy="578400"/>
          </a:xfrm>
          <a:prstGeom prst="halfFrame">
            <a:avLst>
              <a:gd fmla="val 14889" name="adj1"/>
              <a:gd fmla="val 10715" name="adj2"/>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 name="Google Shape;16;p3"/>
          <p:cNvSpPr/>
          <p:nvPr/>
        </p:nvSpPr>
        <p:spPr>
          <a:xfrm rot="10800000">
            <a:off x="5999150" y="3090275"/>
            <a:ext cx="1377300" cy="578400"/>
          </a:xfrm>
          <a:prstGeom prst="halfFrame">
            <a:avLst>
              <a:gd fmla="val 14889" name="adj1"/>
              <a:gd fmla="val 10715" name="adj2"/>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 name="Google Shape;17;p3"/>
          <p:cNvSpPr txBox="1"/>
          <p:nvPr/>
        </p:nvSpPr>
        <p:spPr>
          <a:xfrm>
            <a:off x="2093250" y="3090275"/>
            <a:ext cx="495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solidFill>
                  <a:schemeClr val="lt1"/>
                </a:solidFill>
                <a:latin typeface="Century Gothic"/>
                <a:ea typeface="Century Gothic"/>
                <a:cs typeface="Century Gothic"/>
                <a:sym typeface="Century Gothic"/>
              </a:rPr>
              <a:t>Insert Subtext</a:t>
            </a:r>
            <a:endParaRPr sz="2500">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White Background" type="tx">
  <p:cSld name="TITLE_AND_BODY">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4"/>
          <p:cNvSpPr txBox="1"/>
          <p:nvPr>
            <p:ph type="title"/>
          </p:nvPr>
        </p:nvSpPr>
        <p:spPr>
          <a:xfrm>
            <a:off x="553500" y="243600"/>
            <a:ext cx="8037000" cy="572700"/>
          </a:xfrm>
          <a:prstGeom prst="rect">
            <a:avLst/>
          </a:prstGeom>
        </p:spPr>
        <p:txBody>
          <a:bodyPr anchorCtr="0" anchor="t" bIns="91425" lIns="91425" spcFirstLastPara="1" rIns="91425" wrap="square" tIns="91425">
            <a:normAutofit/>
          </a:bodyPr>
          <a:lstStyle>
            <a:lvl1pPr lvl="0" algn="ctr">
              <a:spcBef>
                <a:spcPts val="0"/>
              </a:spcBef>
              <a:spcAft>
                <a:spcPts val="0"/>
              </a:spcAft>
              <a:buClr>
                <a:srgbClr val="035642"/>
              </a:buClr>
              <a:buSzPts val="3600"/>
              <a:buFont typeface="Century Gothic"/>
              <a:buNone/>
              <a:defRPr b="1" sz="3600">
                <a:solidFill>
                  <a:srgbClr val="035642"/>
                </a:solidFill>
                <a:latin typeface="Century Gothic"/>
                <a:ea typeface="Century Gothic"/>
                <a:cs typeface="Century Gothic"/>
                <a:sym typeface="Century Gothic"/>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553500" y="1116775"/>
            <a:ext cx="82788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Black Background">
  <p:cSld name="TITLE_AND_BODY_1">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5"/>
          <p:cNvSpPr txBox="1"/>
          <p:nvPr>
            <p:ph type="title"/>
          </p:nvPr>
        </p:nvSpPr>
        <p:spPr>
          <a:xfrm>
            <a:off x="553500" y="243600"/>
            <a:ext cx="8037000" cy="572700"/>
          </a:xfrm>
          <a:prstGeom prst="rect">
            <a:avLst/>
          </a:prstGeom>
        </p:spPr>
        <p:txBody>
          <a:bodyPr anchorCtr="0" anchor="t" bIns="91425" lIns="91425" spcFirstLastPara="1" rIns="91425" wrap="square" tIns="91425">
            <a:normAutofit/>
          </a:bodyPr>
          <a:lstStyle>
            <a:lvl1pPr lvl="0" algn="ctr">
              <a:spcBef>
                <a:spcPts val="0"/>
              </a:spcBef>
              <a:spcAft>
                <a:spcPts val="0"/>
              </a:spcAft>
              <a:buClr>
                <a:srgbClr val="035642"/>
              </a:buClr>
              <a:buSzPts val="3600"/>
              <a:buFont typeface="Century Gothic"/>
              <a:buNone/>
              <a:defRPr b="1" sz="3600">
                <a:solidFill>
                  <a:srgbClr val="035642"/>
                </a:solidFill>
                <a:latin typeface="Century Gothic"/>
                <a:ea typeface="Century Gothic"/>
                <a:cs typeface="Century Gothic"/>
                <a:sym typeface="Century Gothic"/>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553500" y="1116775"/>
            <a:ext cx="82788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White Background 1">
  <p:cSld name="TITLE_AND_BODY_2">
    <p:bg>
      <p:bgPr>
        <a:blipFill>
          <a:blip r:embed="rId2">
            <a:alphaModFix/>
          </a:blip>
          <a:stretch>
            <a:fillRect/>
          </a:stretch>
        </a:blipFill>
      </p:bgPr>
    </p:bg>
    <p:spTree>
      <p:nvGrpSpPr>
        <p:cNvPr id="26" name="Shape 26"/>
        <p:cNvGrpSpPr/>
        <p:nvPr/>
      </p:nvGrpSpPr>
      <p:grpSpPr>
        <a:xfrm>
          <a:off x="0" y="0"/>
          <a:ext cx="0" cy="0"/>
          <a:chOff x="0" y="0"/>
          <a:chExt cx="0" cy="0"/>
        </a:xfrm>
      </p:grpSpPr>
      <p:sp>
        <p:nvSpPr>
          <p:cNvPr id="27" name="Google Shape;27;p6"/>
          <p:cNvSpPr txBox="1"/>
          <p:nvPr>
            <p:ph type="title"/>
          </p:nvPr>
        </p:nvSpPr>
        <p:spPr>
          <a:xfrm>
            <a:off x="553500" y="243600"/>
            <a:ext cx="8037000" cy="572700"/>
          </a:xfrm>
          <a:prstGeom prst="rect">
            <a:avLst/>
          </a:prstGeom>
        </p:spPr>
        <p:txBody>
          <a:bodyPr anchorCtr="0" anchor="t" bIns="91425" lIns="91425" spcFirstLastPara="1" rIns="91425" wrap="square" tIns="91425">
            <a:normAutofit/>
          </a:bodyPr>
          <a:lstStyle>
            <a:lvl1pPr lvl="0" algn="ctr">
              <a:spcBef>
                <a:spcPts val="0"/>
              </a:spcBef>
              <a:spcAft>
                <a:spcPts val="0"/>
              </a:spcAft>
              <a:buSzPts val="3600"/>
              <a:buFont typeface="Century Gothic"/>
              <a:buNone/>
              <a:defRPr b="1" sz="3600">
                <a:latin typeface="Century Gothic"/>
                <a:ea typeface="Century Gothic"/>
                <a:cs typeface="Century Gothic"/>
                <a:sym typeface="Century Gothic"/>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 type="body"/>
          </p:nvPr>
        </p:nvSpPr>
        <p:spPr>
          <a:xfrm>
            <a:off x="553500" y="1116775"/>
            <a:ext cx="82788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Blank Slide">
  <p:cSld name="BLANK_2">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lank Slide">
  <p:cSld name="BLANK_1">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ck Blank Slide" type="blank">
  <p:cSld name="BLANK">
    <p:bg>
      <p:bgPr>
        <a:blipFill>
          <a:blip r:embed="rId2">
            <a:alphaModFix/>
          </a:blip>
          <a:stretch>
            <a:fillRect/>
          </a:stretch>
        </a:blipFill>
      </p:bgPr>
    </p:bg>
    <p:spTree>
      <p:nvGrpSpPr>
        <p:cNvPr id="34" name="Shape 34"/>
        <p:cNvGrpSpPr/>
        <p:nvPr/>
      </p:nvGrpSpPr>
      <p:grpSpPr>
        <a:xfrm>
          <a:off x="0" y="0"/>
          <a:ext cx="0" cy="0"/>
          <a:chOff x="0" y="0"/>
          <a:chExt cx="0" cy="0"/>
        </a:xfrm>
      </p:grpSpPr>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36" name="Shape 36"/>
        <p:cNvGrpSpPr/>
        <p:nvPr/>
      </p:nvGrpSpPr>
      <p:grpSpPr>
        <a:xfrm>
          <a:off x="0" y="0"/>
          <a:ext cx="0" cy="0"/>
          <a:chOff x="0" y="0"/>
          <a:chExt cx="0" cy="0"/>
        </a:xfrm>
      </p:grpSpPr>
      <p:sp>
        <p:nvSpPr>
          <p:cNvPr id="37" name="Google Shape;37;p1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 name="Google Shape;38;p1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_1">
    <p:spTree>
      <p:nvGrpSpPr>
        <p:cNvPr id="40" name="Shape 40"/>
        <p:cNvGrpSpPr/>
        <p:nvPr/>
      </p:nvGrpSpPr>
      <p:grpSpPr>
        <a:xfrm>
          <a:off x="0" y="0"/>
          <a:ext cx="0" cy="0"/>
          <a:chOff x="0" y="0"/>
          <a:chExt cx="0" cy="0"/>
        </a:xfrm>
      </p:grpSpPr>
      <p:sp>
        <p:nvSpPr>
          <p:cNvPr id="41" name="Google Shape;41;p11"/>
          <p:cNvSpPr txBox="1"/>
          <p:nvPr>
            <p:ph type="title"/>
          </p:nvPr>
        </p:nvSpPr>
        <p:spPr>
          <a:xfrm>
            <a:off x="623475" y="159800"/>
            <a:ext cx="8093400" cy="2559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11"/>
          <p:cNvSpPr txBox="1"/>
          <p:nvPr>
            <p:ph idx="1" type="body"/>
          </p:nvPr>
        </p:nvSpPr>
        <p:spPr>
          <a:xfrm>
            <a:off x="623475" y="850625"/>
            <a:ext cx="8254200" cy="3199500"/>
          </a:xfrm>
          <a:prstGeom prst="rect">
            <a:avLst/>
          </a:prstGeom>
        </p:spPr>
        <p:txBody>
          <a:bodyPr anchorCtr="0" anchor="t" bIns="91425" lIns="91425" spcFirstLastPara="1" rIns="91425" wrap="square" tIns="91425">
            <a:normAutofit/>
          </a:bodyPr>
          <a:lstStyle>
            <a:lvl1pPr indent="-317500" lvl="0" marL="457200">
              <a:lnSpc>
                <a:spcPct val="100000"/>
              </a:lnSpc>
              <a:spcBef>
                <a:spcPts val="0"/>
              </a:spcBef>
              <a:spcAft>
                <a:spcPts val="0"/>
              </a:spcAft>
              <a:buSzPts val="1400"/>
              <a:buChar char="●"/>
              <a:defRPr sz="1400"/>
            </a:lvl1pPr>
            <a:lvl2pPr indent="-317500" lvl="1" marL="914400">
              <a:lnSpc>
                <a:spcPct val="100000"/>
              </a:lnSpc>
              <a:spcBef>
                <a:spcPts val="600"/>
              </a:spcBef>
              <a:spcAft>
                <a:spcPts val="0"/>
              </a:spcAft>
              <a:buSzPts val="1400"/>
              <a:buChar char="○"/>
              <a:defRPr/>
            </a:lvl2pPr>
            <a:lvl3pPr indent="-317500" lvl="2" marL="1371600">
              <a:lnSpc>
                <a:spcPct val="100000"/>
              </a:lnSpc>
              <a:spcBef>
                <a:spcPts val="600"/>
              </a:spcBef>
              <a:spcAft>
                <a:spcPts val="0"/>
              </a:spcAft>
              <a:buSzPts val="1400"/>
              <a:buChar char="■"/>
              <a:defRPr/>
            </a:lvl3pPr>
            <a:lvl4pPr indent="-317500" lvl="3" marL="1828800">
              <a:lnSpc>
                <a:spcPct val="100000"/>
              </a:lnSpc>
              <a:spcBef>
                <a:spcPts val="600"/>
              </a:spcBef>
              <a:spcAft>
                <a:spcPts val="0"/>
              </a:spcAft>
              <a:buSzPts val="1400"/>
              <a:buChar char="●"/>
              <a:defRPr/>
            </a:lvl4pPr>
            <a:lvl5pPr indent="-317500" lvl="4" marL="2286000">
              <a:lnSpc>
                <a:spcPct val="100000"/>
              </a:lnSpc>
              <a:spcBef>
                <a:spcPts val="600"/>
              </a:spcBef>
              <a:spcAft>
                <a:spcPts val="0"/>
              </a:spcAft>
              <a:buSzPts val="1400"/>
              <a:buChar char="○"/>
              <a:defRPr/>
            </a:lvl5pPr>
            <a:lvl6pPr indent="-317500" lvl="5" marL="2743200">
              <a:lnSpc>
                <a:spcPct val="100000"/>
              </a:lnSpc>
              <a:spcBef>
                <a:spcPts val="600"/>
              </a:spcBef>
              <a:spcAft>
                <a:spcPts val="0"/>
              </a:spcAft>
              <a:buSzPts val="1400"/>
              <a:buChar char="■"/>
              <a:defRPr/>
            </a:lvl6pPr>
            <a:lvl7pPr indent="-317500" lvl="6" marL="3200400">
              <a:lnSpc>
                <a:spcPct val="100000"/>
              </a:lnSpc>
              <a:spcBef>
                <a:spcPts val="600"/>
              </a:spcBef>
              <a:spcAft>
                <a:spcPts val="0"/>
              </a:spcAft>
              <a:buSzPts val="1400"/>
              <a:buChar char="●"/>
              <a:defRPr/>
            </a:lvl7pPr>
            <a:lvl8pPr indent="-317500" lvl="7" marL="3657600">
              <a:lnSpc>
                <a:spcPct val="100000"/>
              </a:lnSpc>
              <a:spcBef>
                <a:spcPts val="600"/>
              </a:spcBef>
              <a:spcAft>
                <a:spcPts val="0"/>
              </a:spcAft>
              <a:buSzPts val="1400"/>
              <a:buChar char="○"/>
              <a:defRPr/>
            </a:lvl8pPr>
            <a:lvl9pPr indent="-317500" lvl="8" marL="4114800">
              <a:lnSpc>
                <a:spcPct val="100000"/>
              </a:lnSpc>
              <a:spcBef>
                <a:spcPts val="600"/>
              </a:spcBef>
              <a:spcAft>
                <a:spcPts val="600"/>
              </a:spcAft>
              <a:buSzPts val="1400"/>
              <a:buChar char="■"/>
              <a:defRPr/>
            </a:lvl9pPr>
          </a:lstStyle>
          <a:p/>
        </p:txBody>
      </p:sp>
      <p:sp>
        <p:nvSpPr>
          <p:cNvPr id="43" name="Google Shape;43;p11"/>
          <p:cNvSpPr txBox="1"/>
          <p:nvPr>
            <p:ph idx="12" type="sldNum"/>
          </p:nvPr>
        </p:nvSpPr>
        <p:spPr>
          <a:xfrm>
            <a:off x="8472458" y="45870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11"/>
          <p:cNvSpPr txBox="1"/>
          <p:nvPr>
            <p:ph idx="2" type="subTitle"/>
          </p:nvPr>
        </p:nvSpPr>
        <p:spPr>
          <a:xfrm>
            <a:off x="623475" y="415700"/>
            <a:ext cx="8093400" cy="219900"/>
          </a:xfrm>
          <a:prstGeom prst="rect">
            <a:avLst/>
          </a:prstGeom>
        </p:spPr>
        <p:txBody>
          <a:bodyPr anchorCtr="0" anchor="t" bIns="91425" lIns="91425" spcFirstLastPara="1" rIns="91425" wrap="square" tIns="91425">
            <a:normAutofit/>
          </a:bodyPr>
          <a:lstStyle>
            <a:lvl1pPr lvl="0">
              <a:spcBef>
                <a:spcPts val="0"/>
              </a:spcBef>
              <a:spcAft>
                <a:spcPts val="0"/>
              </a:spcAft>
              <a:buNone/>
              <a:defRPr sz="1800">
                <a:solidFill>
                  <a:srgbClr val="035642"/>
                </a:solidFill>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45" name="Shape 45"/>
        <p:cNvGrpSpPr/>
        <p:nvPr/>
      </p:nvGrpSpPr>
      <p:grpSpPr>
        <a:xfrm>
          <a:off x="0" y="0"/>
          <a:ext cx="0" cy="0"/>
          <a:chOff x="0" y="0"/>
          <a:chExt cx="0" cy="0"/>
        </a:xfrm>
      </p:grpSpPr>
      <p:sp>
        <p:nvSpPr>
          <p:cNvPr id="46" name="Google Shape;46;p1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7" name="Google Shape;47;p1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5" name="Google Shape;55;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6" name="Google Shape;5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9" name="Google Shape;5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0" name="Shape 60"/>
        <p:cNvGrpSpPr/>
        <p:nvPr/>
      </p:nvGrpSpPr>
      <p:grpSpPr>
        <a:xfrm>
          <a:off x="0" y="0"/>
          <a:ext cx="0" cy="0"/>
          <a:chOff x="0" y="0"/>
          <a:chExt cx="0" cy="0"/>
        </a:xfrm>
      </p:grpSpPr>
      <p:sp>
        <p:nvSpPr>
          <p:cNvPr id="61" name="Google Shape;61;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2" name="Google Shape;6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3" name="Google Shape;63;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4" name="Shape 64"/>
        <p:cNvGrpSpPr/>
        <p:nvPr/>
      </p:nvGrpSpPr>
      <p:grpSpPr>
        <a:xfrm>
          <a:off x="0" y="0"/>
          <a:ext cx="0" cy="0"/>
          <a:chOff x="0" y="0"/>
          <a:chExt cx="0" cy="0"/>
        </a:xfrm>
      </p:grpSpPr>
      <p:sp>
        <p:nvSpPr>
          <p:cNvPr id="65" name="Google Shape;65;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 name="Google Shape;66;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7" name="Google Shape;67;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2" name="Shape 72"/>
        <p:cNvGrpSpPr/>
        <p:nvPr/>
      </p:nvGrpSpPr>
      <p:grpSpPr>
        <a:xfrm>
          <a:off x="0" y="0"/>
          <a:ext cx="0" cy="0"/>
          <a:chOff x="0" y="0"/>
          <a:chExt cx="0" cy="0"/>
        </a:xfrm>
      </p:grpSpPr>
      <p:sp>
        <p:nvSpPr>
          <p:cNvPr id="73" name="Google Shape;73;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4" name="Google Shape;74;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5" name="Google Shape;75;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8" name="Google Shape;7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9" name="Shape 79"/>
        <p:cNvGrpSpPr/>
        <p:nvPr/>
      </p:nvGrpSpPr>
      <p:grpSpPr>
        <a:xfrm>
          <a:off x="0" y="0"/>
          <a:ext cx="0" cy="0"/>
          <a:chOff x="0" y="0"/>
          <a:chExt cx="0" cy="0"/>
        </a:xfrm>
      </p:grpSpPr>
      <p:sp>
        <p:nvSpPr>
          <p:cNvPr id="80" name="Google Shape;80;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2" name="Google Shape;82;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3" name="Google Shape;83;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4" name="Google Shape;8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5" name="Shape 85"/>
        <p:cNvGrpSpPr/>
        <p:nvPr/>
      </p:nvGrpSpPr>
      <p:grpSpPr>
        <a:xfrm>
          <a:off x="0" y="0"/>
          <a:ext cx="0" cy="0"/>
          <a:chOff x="0" y="0"/>
          <a:chExt cx="0" cy="0"/>
        </a:xfrm>
      </p:grpSpPr>
      <p:sp>
        <p:nvSpPr>
          <p:cNvPr id="86" name="Google Shape;86;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7" name="Google Shape;8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8" name="Shape 88"/>
        <p:cNvGrpSpPr/>
        <p:nvPr/>
      </p:nvGrpSpPr>
      <p:grpSpPr>
        <a:xfrm>
          <a:off x="0" y="0"/>
          <a:ext cx="0" cy="0"/>
          <a:chOff x="0" y="0"/>
          <a:chExt cx="0" cy="0"/>
        </a:xfrm>
      </p:grpSpPr>
      <p:sp>
        <p:nvSpPr>
          <p:cNvPr id="89" name="Google Shape;89;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0" name="Google Shape;90;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1" name="Google Shape;91;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2" name="Shape 92"/>
        <p:cNvGrpSpPr/>
        <p:nvPr/>
      </p:nvGrpSpPr>
      <p:grpSpPr>
        <a:xfrm>
          <a:off x="0" y="0"/>
          <a:ext cx="0" cy="0"/>
          <a:chOff x="0" y="0"/>
          <a:chExt cx="0" cy="0"/>
        </a:xfrm>
      </p:grpSpPr>
      <p:sp>
        <p:nvSpPr>
          <p:cNvPr id="93" name="Google Shape;9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94" name="Shape 94"/>
        <p:cNvGrpSpPr/>
        <p:nvPr/>
      </p:nvGrpSpPr>
      <p:grpSpPr>
        <a:xfrm>
          <a:off x="0" y="0"/>
          <a:ext cx="0" cy="0"/>
          <a:chOff x="0" y="0"/>
          <a:chExt cx="0" cy="0"/>
        </a:xfrm>
      </p:grpSpPr>
      <p:sp>
        <p:nvSpPr>
          <p:cNvPr id="95" name="Google Shape;95;p25"/>
          <p:cNvSpPr txBox="1"/>
          <p:nvPr>
            <p:ph type="title"/>
          </p:nvPr>
        </p:nvSpPr>
        <p:spPr>
          <a:xfrm>
            <a:off x="623475" y="159800"/>
            <a:ext cx="8093400" cy="255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25"/>
          <p:cNvSpPr txBox="1"/>
          <p:nvPr>
            <p:ph idx="1" type="body"/>
          </p:nvPr>
        </p:nvSpPr>
        <p:spPr>
          <a:xfrm>
            <a:off x="623475" y="850625"/>
            <a:ext cx="8254200" cy="3199500"/>
          </a:xfrm>
          <a:prstGeom prst="rect">
            <a:avLst/>
          </a:prstGeom>
        </p:spPr>
        <p:txBody>
          <a:bodyPr anchorCtr="0" anchor="t" bIns="91425" lIns="91425" spcFirstLastPara="1" rIns="91425" wrap="square" tIns="91425">
            <a:normAutofit/>
          </a:bodyPr>
          <a:lstStyle>
            <a:lvl1pPr indent="-317500" lvl="0" marL="457200">
              <a:lnSpc>
                <a:spcPct val="100000"/>
              </a:lnSpc>
              <a:spcBef>
                <a:spcPts val="0"/>
              </a:spcBef>
              <a:spcAft>
                <a:spcPts val="0"/>
              </a:spcAft>
              <a:buSzPts val="1400"/>
              <a:buChar char="●"/>
              <a:defRPr sz="1400"/>
            </a:lvl1pPr>
            <a:lvl2pPr indent="-317500" lvl="1" marL="914400">
              <a:lnSpc>
                <a:spcPct val="100000"/>
              </a:lnSpc>
              <a:spcBef>
                <a:spcPts val="600"/>
              </a:spcBef>
              <a:spcAft>
                <a:spcPts val="0"/>
              </a:spcAft>
              <a:buSzPts val="1400"/>
              <a:buChar char="○"/>
              <a:defRPr/>
            </a:lvl2pPr>
            <a:lvl3pPr indent="-317500" lvl="2" marL="1371600">
              <a:lnSpc>
                <a:spcPct val="100000"/>
              </a:lnSpc>
              <a:spcBef>
                <a:spcPts val="600"/>
              </a:spcBef>
              <a:spcAft>
                <a:spcPts val="0"/>
              </a:spcAft>
              <a:buSzPts val="1400"/>
              <a:buChar char="■"/>
              <a:defRPr/>
            </a:lvl3pPr>
            <a:lvl4pPr indent="-317500" lvl="3" marL="1828800">
              <a:lnSpc>
                <a:spcPct val="100000"/>
              </a:lnSpc>
              <a:spcBef>
                <a:spcPts val="600"/>
              </a:spcBef>
              <a:spcAft>
                <a:spcPts val="0"/>
              </a:spcAft>
              <a:buSzPts val="1400"/>
              <a:buChar char="●"/>
              <a:defRPr/>
            </a:lvl4pPr>
            <a:lvl5pPr indent="-317500" lvl="4" marL="2286000">
              <a:lnSpc>
                <a:spcPct val="100000"/>
              </a:lnSpc>
              <a:spcBef>
                <a:spcPts val="600"/>
              </a:spcBef>
              <a:spcAft>
                <a:spcPts val="0"/>
              </a:spcAft>
              <a:buSzPts val="1400"/>
              <a:buChar char="○"/>
              <a:defRPr/>
            </a:lvl5pPr>
            <a:lvl6pPr indent="-317500" lvl="5" marL="2743200">
              <a:lnSpc>
                <a:spcPct val="100000"/>
              </a:lnSpc>
              <a:spcBef>
                <a:spcPts val="600"/>
              </a:spcBef>
              <a:spcAft>
                <a:spcPts val="0"/>
              </a:spcAft>
              <a:buSzPts val="1400"/>
              <a:buChar char="■"/>
              <a:defRPr/>
            </a:lvl6pPr>
            <a:lvl7pPr indent="-317500" lvl="6" marL="3200400">
              <a:lnSpc>
                <a:spcPct val="100000"/>
              </a:lnSpc>
              <a:spcBef>
                <a:spcPts val="600"/>
              </a:spcBef>
              <a:spcAft>
                <a:spcPts val="0"/>
              </a:spcAft>
              <a:buSzPts val="1400"/>
              <a:buChar char="●"/>
              <a:defRPr/>
            </a:lvl7pPr>
            <a:lvl8pPr indent="-317500" lvl="7" marL="3657600">
              <a:lnSpc>
                <a:spcPct val="100000"/>
              </a:lnSpc>
              <a:spcBef>
                <a:spcPts val="600"/>
              </a:spcBef>
              <a:spcAft>
                <a:spcPts val="0"/>
              </a:spcAft>
              <a:buSzPts val="1400"/>
              <a:buChar char="○"/>
              <a:defRPr/>
            </a:lvl8pPr>
            <a:lvl9pPr indent="-317500" lvl="8" marL="4114800">
              <a:lnSpc>
                <a:spcPct val="100000"/>
              </a:lnSpc>
              <a:spcBef>
                <a:spcPts val="600"/>
              </a:spcBef>
              <a:spcAft>
                <a:spcPts val="600"/>
              </a:spcAft>
              <a:buSzPts val="1400"/>
              <a:buChar char="■"/>
              <a:defRPr/>
            </a:lvl9pPr>
          </a:lstStyle>
          <a:p/>
        </p:txBody>
      </p:sp>
      <p:sp>
        <p:nvSpPr>
          <p:cNvPr id="97" name="Google Shape;97;p25"/>
          <p:cNvSpPr txBox="1"/>
          <p:nvPr>
            <p:ph idx="12" type="sldNum"/>
          </p:nvPr>
        </p:nvSpPr>
        <p:spPr>
          <a:xfrm>
            <a:off x="8472458" y="45870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25"/>
          <p:cNvSpPr txBox="1"/>
          <p:nvPr>
            <p:ph idx="2" type="subTitle"/>
          </p:nvPr>
        </p:nvSpPr>
        <p:spPr>
          <a:xfrm>
            <a:off x="623475" y="415700"/>
            <a:ext cx="8093400" cy="219900"/>
          </a:xfrm>
          <a:prstGeom prst="rect">
            <a:avLst/>
          </a:prstGeom>
        </p:spPr>
        <p:txBody>
          <a:bodyPr anchorCtr="0" anchor="t" bIns="91425" lIns="91425" spcFirstLastPara="1" rIns="91425" wrap="square" tIns="91425">
            <a:normAutofit/>
          </a:bodyPr>
          <a:lstStyle>
            <a:lvl1pPr lvl="0">
              <a:spcBef>
                <a:spcPts val="0"/>
              </a:spcBef>
              <a:spcAft>
                <a:spcPts val="0"/>
              </a:spcAft>
              <a:buNone/>
              <a:defRPr sz="1800">
                <a:solidFill>
                  <a:srgbClr val="035642"/>
                </a:solidFill>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2.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Century Gothic"/>
              <a:buNone/>
              <a:defRPr b="1" sz="3200">
                <a:solidFill>
                  <a:schemeClr val="dk1"/>
                </a:solidFill>
                <a:latin typeface="Century Gothic"/>
                <a:ea typeface="Century Gothic"/>
                <a:cs typeface="Century Gothic"/>
                <a:sym typeface="Century Gothic"/>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9" name="Shape 49"/>
        <p:cNvGrpSpPr/>
        <p:nvPr/>
      </p:nvGrpSpPr>
      <p:grpSpPr>
        <a:xfrm>
          <a:off x="0" y="0"/>
          <a:ext cx="0" cy="0"/>
          <a:chOff x="0" y="0"/>
          <a:chExt cx="0" cy="0"/>
        </a:xfrm>
      </p:grpSpPr>
      <p:sp>
        <p:nvSpPr>
          <p:cNvPr id="50" name="Google Shape;50;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1" name="Google Shape;51;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2" name="Google Shape;5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31.png"/><Relationship Id="rId6" Type="http://schemas.openxmlformats.org/officeDocument/2006/relationships/image" Target="../media/image25.png"/><Relationship Id="rId7" Type="http://schemas.openxmlformats.org/officeDocument/2006/relationships/image" Target="../media/image27.png"/><Relationship Id="rId8"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2" name="Shape 102"/>
        <p:cNvGrpSpPr/>
        <p:nvPr/>
      </p:nvGrpSpPr>
      <p:grpSpPr>
        <a:xfrm>
          <a:off x="0" y="0"/>
          <a:ext cx="0" cy="0"/>
          <a:chOff x="0" y="0"/>
          <a:chExt cx="0" cy="0"/>
        </a:xfrm>
      </p:grpSpPr>
      <p:sp>
        <p:nvSpPr>
          <p:cNvPr id="103" name="Google Shape;103;p26"/>
          <p:cNvSpPr/>
          <p:nvPr/>
        </p:nvSpPr>
        <p:spPr>
          <a:xfrm>
            <a:off x="3602650" y="0"/>
            <a:ext cx="5541300" cy="5033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6"/>
          <p:cNvSpPr txBox="1"/>
          <p:nvPr/>
        </p:nvSpPr>
        <p:spPr>
          <a:xfrm>
            <a:off x="3777550" y="135450"/>
            <a:ext cx="5191500" cy="2436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8000"/>
              <a:buFont typeface="Arial"/>
              <a:buNone/>
            </a:pPr>
            <a:r>
              <a:rPr b="1" lang="en" sz="4800">
                <a:solidFill>
                  <a:srgbClr val="054F39"/>
                </a:solidFill>
                <a:latin typeface="Century Gothic"/>
                <a:ea typeface="Century Gothic"/>
                <a:cs typeface="Century Gothic"/>
                <a:sym typeface="Century Gothic"/>
              </a:rPr>
              <a:t>Marketing Analytics Project </a:t>
            </a:r>
            <a:endParaRPr sz="4800">
              <a:solidFill>
                <a:schemeClr val="dk1"/>
              </a:solidFill>
              <a:latin typeface="Century Gothic"/>
              <a:ea typeface="Century Gothic"/>
              <a:cs typeface="Century Gothic"/>
              <a:sym typeface="Century Gothic"/>
            </a:endParaRPr>
          </a:p>
          <a:p>
            <a:pPr indent="0" lvl="0" marL="0" marR="0" rtl="0" algn="l">
              <a:lnSpc>
                <a:spcPct val="120000"/>
              </a:lnSpc>
              <a:spcBef>
                <a:spcPts val="0"/>
              </a:spcBef>
              <a:spcAft>
                <a:spcPts val="0"/>
              </a:spcAft>
              <a:buClr>
                <a:srgbClr val="000000"/>
              </a:buClr>
              <a:buSzPts val="8000"/>
              <a:buFont typeface="Arial"/>
              <a:buNone/>
            </a:pPr>
            <a:r>
              <a:t/>
            </a:r>
            <a:endParaRPr b="1" sz="4800">
              <a:solidFill>
                <a:srgbClr val="054F39"/>
              </a:solidFill>
              <a:latin typeface="Century Gothic"/>
              <a:ea typeface="Century Gothic"/>
              <a:cs typeface="Century Gothic"/>
              <a:sym typeface="Century Gothic"/>
            </a:endParaRPr>
          </a:p>
        </p:txBody>
      </p:sp>
      <p:sp>
        <p:nvSpPr>
          <p:cNvPr id="105" name="Google Shape;105;p26"/>
          <p:cNvSpPr txBox="1"/>
          <p:nvPr/>
        </p:nvSpPr>
        <p:spPr>
          <a:xfrm>
            <a:off x="3777550" y="2734400"/>
            <a:ext cx="51915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rPr>
              <a:t>Project Director: </a:t>
            </a:r>
            <a:r>
              <a:rPr lang="en" sz="2400">
                <a:solidFill>
                  <a:schemeClr val="dk1"/>
                </a:solidFill>
              </a:rPr>
              <a:t>Celeste Johnson</a:t>
            </a:r>
            <a:endParaRPr b="1" sz="2400">
              <a:solidFill>
                <a:schemeClr val="dk1"/>
              </a:solidFill>
            </a:endParaRPr>
          </a:p>
        </p:txBody>
      </p:sp>
      <p:sp>
        <p:nvSpPr>
          <p:cNvPr id="106" name="Google Shape;106;p26"/>
          <p:cNvSpPr txBox="1"/>
          <p:nvPr/>
        </p:nvSpPr>
        <p:spPr>
          <a:xfrm>
            <a:off x="3777550" y="3375800"/>
            <a:ext cx="51915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rPr>
              <a:t>Project Team: </a:t>
            </a:r>
            <a:r>
              <a:rPr lang="en" sz="2400">
                <a:solidFill>
                  <a:schemeClr val="dk1"/>
                </a:solidFill>
              </a:rPr>
              <a:t>Brent Nakashima (lead), Barrett Acker, Aryan Baldua, Noah Pidding, Adam Kong</a:t>
            </a:r>
            <a:endParaRPr sz="2400">
              <a:solidFill>
                <a:schemeClr val="dk1"/>
              </a:solidFill>
            </a:endParaRPr>
          </a:p>
          <a:p>
            <a:pPr indent="0" lvl="0" marL="0" rtl="0" algn="l">
              <a:spcBef>
                <a:spcPts val="0"/>
              </a:spcBef>
              <a:spcAft>
                <a:spcPts val="0"/>
              </a:spcAft>
              <a:buNone/>
            </a:pPr>
            <a:r>
              <a:t/>
            </a:r>
            <a:endParaRPr b="1" sz="2400">
              <a:solidFill>
                <a:schemeClr val="dk1"/>
              </a:solidFill>
            </a:endParaRPr>
          </a:p>
        </p:txBody>
      </p:sp>
      <p:pic>
        <p:nvPicPr>
          <p:cNvPr id="107" name="Google Shape;107;p26"/>
          <p:cNvPicPr preferRelativeResize="0"/>
          <p:nvPr/>
        </p:nvPicPr>
        <p:blipFill rotWithShape="1">
          <a:blip r:embed="rId4">
            <a:alphaModFix/>
          </a:blip>
          <a:srcRect b="24705" l="0" r="0" t="21292"/>
          <a:stretch/>
        </p:blipFill>
        <p:spPr>
          <a:xfrm>
            <a:off x="615975" y="1746963"/>
            <a:ext cx="2850325" cy="153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 name="Shape 111"/>
        <p:cNvGrpSpPr/>
        <p:nvPr/>
      </p:nvGrpSpPr>
      <p:grpSpPr>
        <a:xfrm>
          <a:off x="0" y="0"/>
          <a:ext cx="0" cy="0"/>
          <a:chOff x="0" y="0"/>
          <a:chExt cx="0" cy="0"/>
        </a:xfrm>
      </p:grpSpPr>
      <p:sp>
        <p:nvSpPr>
          <p:cNvPr id="112" name="Google Shape;112;p27"/>
          <p:cNvSpPr txBox="1"/>
          <p:nvPr/>
        </p:nvSpPr>
        <p:spPr>
          <a:xfrm>
            <a:off x="332250" y="77175"/>
            <a:ext cx="8479500" cy="974100"/>
          </a:xfrm>
          <a:prstGeom prst="rect">
            <a:avLst/>
          </a:prstGeom>
          <a:noFill/>
          <a:ln>
            <a:noFill/>
          </a:ln>
        </p:spPr>
        <p:txBody>
          <a:bodyPr anchorCtr="0" anchor="b" bIns="182850" lIns="182850" spcFirstLastPara="1" rIns="182850" wrap="square" tIns="182850">
            <a:noAutofit/>
          </a:bodyPr>
          <a:lstStyle/>
          <a:p>
            <a:pPr indent="0" lvl="0" marL="0" rtl="0" algn="ctr">
              <a:spcBef>
                <a:spcPts val="0"/>
              </a:spcBef>
              <a:spcAft>
                <a:spcPts val="0"/>
              </a:spcAft>
              <a:buNone/>
            </a:pPr>
            <a:r>
              <a:rPr b="1" lang="en" sz="3600">
                <a:latin typeface="Century Gothic"/>
                <a:ea typeface="Century Gothic"/>
                <a:cs typeface="Century Gothic"/>
                <a:sym typeface="Century Gothic"/>
              </a:rPr>
              <a:t>What is JourneyBlazers?</a:t>
            </a:r>
            <a:endParaRPr b="1" sz="3600">
              <a:solidFill>
                <a:srgbClr val="000000"/>
              </a:solidFill>
              <a:latin typeface="Century Gothic"/>
              <a:ea typeface="Century Gothic"/>
              <a:cs typeface="Century Gothic"/>
              <a:sym typeface="Century Gothic"/>
            </a:endParaRPr>
          </a:p>
        </p:txBody>
      </p:sp>
      <p:sp>
        <p:nvSpPr>
          <p:cNvPr id="113" name="Google Shape;113;p27"/>
          <p:cNvSpPr txBox="1"/>
          <p:nvPr/>
        </p:nvSpPr>
        <p:spPr>
          <a:xfrm>
            <a:off x="1013950" y="1332625"/>
            <a:ext cx="4290000" cy="311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900">
                <a:solidFill>
                  <a:srgbClr val="9900FF"/>
                </a:solidFill>
              </a:rPr>
              <a:t>JourneyBlazers</a:t>
            </a:r>
            <a:endParaRPr b="1" sz="1900">
              <a:solidFill>
                <a:srgbClr val="9900FF"/>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Set up and customize Salesforce solutions for businesses</a:t>
            </a:r>
            <a:endParaRPr sz="1800">
              <a:solidFill>
                <a:srgbClr val="595959"/>
              </a:solidFill>
            </a:endParaRPr>
          </a:p>
          <a:p>
            <a:pPr indent="0" lvl="0" marL="457200" rtl="0" algn="l">
              <a:lnSpc>
                <a:spcPct val="75000"/>
              </a:lnSpc>
              <a:spcBef>
                <a:spcPts val="0"/>
              </a:spcBef>
              <a:spcAft>
                <a:spcPts val="0"/>
              </a:spcAft>
              <a:buNone/>
            </a:pPr>
            <a:r>
              <a:rPr lang="en" sz="1800">
                <a:solidFill>
                  <a:srgbClr val="595959"/>
                </a:solidFill>
              </a:rPr>
              <a:t> </a:t>
            </a:r>
            <a:endParaRPr sz="1800">
              <a:solidFill>
                <a:srgbClr val="595959"/>
              </a:solidFill>
            </a:endParaRPr>
          </a:p>
          <a:p>
            <a:pPr indent="0" lvl="0" marL="0" rtl="0" algn="l">
              <a:lnSpc>
                <a:spcPct val="115000"/>
              </a:lnSpc>
              <a:spcBef>
                <a:spcPts val="0"/>
              </a:spcBef>
              <a:spcAft>
                <a:spcPts val="0"/>
              </a:spcAft>
              <a:buNone/>
            </a:pPr>
            <a:r>
              <a:rPr b="1" lang="en" sz="1800">
                <a:solidFill>
                  <a:srgbClr val="9900FF"/>
                </a:solidFill>
              </a:rPr>
              <a:t>Overview</a:t>
            </a:r>
            <a:endParaRPr b="1" sz="1800">
              <a:solidFill>
                <a:srgbClr val="9900FF"/>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Founded in 2018 </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Based out of the East Coast</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Founder and CEO - Gaurav Pawar</a:t>
            </a:r>
            <a:endParaRPr sz="1800">
              <a:solidFill>
                <a:srgbClr val="595959"/>
              </a:solidFill>
            </a:endParaRPr>
          </a:p>
          <a:p>
            <a:pPr indent="0" lvl="0" marL="0" rtl="0" algn="l">
              <a:spcBef>
                <a:spcPts val="0"/>
              </a:spcBef>
              <a:spcAft>
                <a:spcPts val="0"/>
              </a:spcAft>
              <a:buNone/>
            </a:pPr>
            <a:r>
              <a:t/>
            </a:r>
            <a:endParaRPr/>
          </a:p>
        </p:txBody>
      </p:sp>
      <p:pic>
        <p:nvPicPr>
          <p:cNvPr id="114" name="Google Shape;114;p27"/>
          <p:cNvPicPr preferRelativeResize="0"/>
          <p:nvPr/>
        </p:nvPicPr>
        <p:blipFill rotWithShape="1">
          <a:blip r:embed="rId4">
            <a:alphaModFix/>
          </a:blip>
          <a:srcRect b="25397" l="0" r="0" t="23469"/>
          <a:stretch/>
        </p:blipFill>
        <p:spPr>
          <a:xfrm>
            <a:off x="5993300" y="2773900"/>
            <a:ext cx="2321600" cy="1187125"/>
          </a:xfrm>
          <a:prstGeom prst="rect">
            <a:avLst/>
          </a:prstGeom>
          <a:noFill/>
          <a:ln>
            <a:noFill/>
          </a:ln>
        </p:spPr>
      </p:pic>
      <p:pic>
        <p:nvPicPr>
          <p:cNvPr id="115" name="Google Shape;115;p27"/>
          <p:cNvPicPr preferRelativeResize="0"/>
          <p:nvPr/>
        </p:nvPicPr>
        <p:blipFill>
          <a:blip r:embed="rId5">
            <a:alphaModFix/>
          </a:blip>
          <a:stretch>
            <a:fillRect/>
          </a:stretch>
        </p:blipFill>
        <p:spPr>
          <a:xfrm>
            <a:off x="6302320" y="1458250"/>
            <a:ext cx="1703555" cy="1195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p28"/>
          <p:cNvSpPr txBox="1"/>
          <p:nvPr/>
        </p:nvSpPr>
        <p:spPr>
          <a:xfrm>
            <a:off x="332250" y="77175"/>
            <a:ext cx="8479500" cy="974100"/>
          </a:xfrm>
          <a:prstGeom prst="rect">
            <a:avLst/>
          </a:prstGeom>
          <a:noFill/>
          <a:ln>
            <a:noFill/>
          </a:ln>
        </p:spPr>
        <p:txBody>
          <a:bodyPr anchorCtr="0" anchor="b" bIns="182850" lIns="182850" spcFirstLastPara="1" rIns="182850" wrap="square" tIns="182850">
            <a:noAutofit/>
          </a:bodyPr>
          <a:lstStyle/>
          <a:p>
            <a:pPr indent="0" lvl="0" marL="0" rtl="0" algn="ctr">
              <a:spcBef>
                <a:spcPts val="0"/>
              </a:spcBef>
              <a:spcAft>
                <a:spcPts val="0"/>
              </a:spcAft>
              <a:buNone/>
            </a:pPr>
            <a:r>
              <a:rPr b="1" lang="en" sz="3600">
                <a:latin typeface="Century Gothic"/>
                <a:ea typeface="Century Gothic"/>
                <a:cs typeface="Century Gothic"/>
                <a:sym typeface="Century Gothic"/>
              </a:rPr>
              <a:t>Current State</a:t>
            </a:r>
            <a:endParaRPr b="1" sz="3600">
              <a:solidFill>
                <a:srgbClr val="000000"/>
              </a:solidFill>
              <a:latin typeface="Century Gothic"/>
              <a:ea typeface="Century Gothic"/>
              <a:cs typeface="Century Gothic"/>
              <a:sym typeface="Century Gothic"/>
            </a:endParaRPr>
          </a:p>
        </p:txBody>
      </p:sp>
      <p:sp>
        <p:nvSpPr>
          <p:cNvPr id="121" name="Google Shape;121;p28"/>
          <p:cNvSpPr/>
          <p:nvPr/>
        </p:nvSpPr>
        <p:spPr>
          <a:xfrm>
            <a:off x="1396125" y="1519750"/>
            <a:ext cx="2698500" cy="14472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28"/>
          <p:cNvSpPr txBox="1"/>
          <p:nvPr/>
        </p:nvSpPr>
        <p:spPr>
          <a:xfrm>
            <a:off x="1443825" y="1836550"/>
            <a:ext cx="2603100" cy="81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rPr>
              <a:t>Minimal resources</a:t>
            </a:r>
            <a:endParaRPr b="1" sz="1800">
              <a:solidFill>
                <a:schemeClr val="lt1"/>
              </a:solidFill>
            </a:endParaRPr>
          </a:p>
          <a:p>
            <a:pPr indent="0" lvl="0" marL="0" rtl="0" algn="ctr">
              <a:spcBef>
                <a:spcPts val="0"/>
              </a:spcBef>
              <a:spcAft>
                <a:spcPts val="0"/>
              </a:spcAft>
              <a:buNone/>
            </a:pPr>
            <a:r>
              <a:rPr b="1" lang="en" sz="1800">
                <a:solidFill>
                  <a:schemeClr val="lt1"/>
                </a:solidFill>
              </a:rPr>
              <a:t> towards advertising </a:t>
            </a:r>
            <a:endParaRPr b="1" sz="1800">
              <a:solidFill>
                <a:schemeClr val="lt1"/>
              </a:solidFill>
            </a:endParaRPr>
          </a:p>
        </p:txBody>
      </p:sp>
      <p:sp>
        <p:nvSpPr>
          <p:cNvPr id="123" name="Google Shape;123;p28"/>
          <p:cNvSpPr/>
          <p:nvPr/>
        </p:nvSpPr>
        <p:spPr>
          <a:xfrm>
            <a:off x="4283025" y="1939450"/>
            <a:ext cx="1066500" cy="710700"/>
          </a:xfrm>
          <a:prstGeom prst="rightArrow">
            <a:avLst>
              <a:gd fmla="val 50000" name="adj1"/>
              <a:gd fmla="val 50000" name="adj2"/>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28"/>
          <p:cNvSpPr/>
          <p:nvPr/>
        </p:nvSpPr>
        <p:spPr>
          <a:xfrm>
            <a:off x="5537925" y="1519750"/>
            <a:ext cx="2698500" cy="14472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 name="Google Shape;125;p28"/>
          <p:cNvSpPr txBox="1"/>
          <p:nvPr/>
        </p:nvSpPr>
        <p:spPr>
          <a:xfrm>
            <a:off x="5585625" y="1756300"/>
            <a:ext cx="2650800" cy="97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rPr>
              <a:t>Low brand awareness among potential customers</a:t>
            </a:r>
            <a:endParaRPr b="1" sz="1800">
              <a:solidFill>
                <a:schemeClr val="lt1"/>
              </a:solidFill>
            </a:endParaRPr>
          </a:p>
        </p:txBody>
      </p:sp>
      <p:sp>
        <p:nvSpPr>
          <p:cNvPr id="126" name="Google Shape;126;p28"/>
          <p:cNvSpPr txBox="1"/>
          <p:nvPr/>
        </p:nvSpPr>
        <p:spPr>
          <a:xfrm>
            <a:off x="1132475" y="3354125"/>
            <a:ext cx="7442700" cy="106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1"/>
                </a:solidFill>
              </a:rPr>
              <a:t>Our task is to create and optimize advertisements</a:t>
            </a:r>
            <a:endParaRPr b="1" sz="2200">
              <a:solidFill>
                <a:schemeClr val="dk1"/>
              </a:solidFill>
            </a:endParaRPr>
          </a:p>
          <a:p>
            <a:pPr indent="0" lvl="0" marL="0" rtl="0" algn="ctr">
              <a:spcBef>
                <a:spcPts val="0"/>
              </a:spcBef>
              <a:spcAft>
                <a:spcPts val="0"/>
              </a:spcAft>
              <a:buNone/>
            </a:pPr>
            <a:r>
              <a:rPr b="1" lang="en" sz="2200">
                <a:solidFill>
                  <a:schemeClr val="dk1"/>
                </a:solidFill>
              </a:rPr>
              <a:t> to help attract new clients</a:t>
            </a:r>
            <a:endParaRPr b="1" sz="2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grpSp>
        <p:nvGrpSpPr>
          <p:cNvPr id="131" name="Google Shape;131;p29"/>
          <p:cNvGrpSpPr/>
          <p:nvPr/>
        </p:nvGrpSpPr>
        <p:grpSpPr>
          <a:xfrm>
            <a:off x="1005851" y="1853856"/>
            <a:ext cx="7132292" cy="790475"/>
            <a:chOff x="1593000" y="2322568"/>
            <a:chExt cx="5957975" cy="643500"/>
          </a:xfrm>
        </p:grpSpPr>
        <p:sp>
          <p:nvSpPr>
            <p:cNvPr id="132" name="Google Shape;132;p29"/>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9"/>
            <p:cNvSpPr/>
            <p:nvPr/>
          </p:nvSpPr>
          <p:spPr>
            <a:xfrm flipH="1">
              <a:off x="2283025" y="2322575"/>
              <a:ext cx="1844400" cy="642600"/>
            </a:xfrm>
            <a:prstGeom prst="rect">
              <a:avLst/>
            </a:prstGeom>
            <a:solidFill>
              <a:srgbClr val="351C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9"/>
            <p:cNvSpPr/>
            <p:nvPr/>
          </p:nvSpPr>
          <p:spPr>
            <a:xfrm rot="-5400000">
              <a:off x="3501574" y="1934671"/>
              <a:ext cx="643356" cy="1419149"/>
            </a:xfrm>
            <a:prstGeom prst="flowChartOffpageConnector">
              <a:avLst/>
            </a:prstGeom>
            <a:solidFill>
              <a:srgbClr val="351C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9"/>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3000">
                  <a:solidFill>
                    <a:srgbClr val="FFFFFF"/>
                  </a:solidFill>
                  <a:latin typeface="Roboto Medium"/>
                  <a:ea typeface="Roboto Medium"/>
                  <a:cs typeface="Roboto Medium"/>
                  <a:sym typeface="Roboto Medium"/>
                </a:rPr>
                <a:t>Implement</a:t>
              </a:r>
              <a:endParaRPr sz="3000">
                <a:solidFill>
                  <a:srgbClr val="FFFFFF"/>
                </a:solidFill>
                <a:latin typeface="Roboto"/>
                <a:ea typeface="Roboto"/>
                <a:cs typeface="Roboto"/>
                <a:sym typeface="Roboto"/>
              </a:endParaRPr>
            </a:p>
          </p:txBody>
        </p:sp>
        <p:sp>
          <p:nvSpPr>
            <p:cNvPr id="136" name="Google Shape;136;p29"/>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9"/>
            <p:cNvSpPr/>
            <p:nvPr/>
          </p:nvSpPr>
          <p:spPr>
            <a:xfrm>
              <a:off x="1593000" y="2322575"/>
              <a:ext cx="690000" cy="642600"/>
            </a:xfrm>
            <a:prstGeom prst="rect">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02</a:t>
              </a:r>
              <a:endParaRPr sz="2600">
                <a:solidFill>
                  <a:srgbClr val="FFFFFF"/>
                </a:solidFill>
                <a:latin typeface="Roboto Thin"/>
                <a:ea typeface="Roboto Thin"/>
                <a:cs typeface="Roboto Thin"/>
                <a:sym typeface="Roboto Thin"/>
              </a:endParaRPr>
            </a:p>
          </p:txBody>
        </p:sp>
        <p:sp>
          <p:nvSpPr>
            <p:cNvPr id="138" name="Google Shape;138;p29"/>
            <p:cNvSpPr/>
            <p:nvPr/>
          </p:nvSpPr>
          <p:spPr>
            <a:xfrm>
              <a:off x="4570394" y="2323750"/>
              <a:ext cx="2971200" cy="642300"/>
            </a:xfrm>
            <a:prstGeom prst="rect">
              <a:avLst/>
            </a:prstGeom>
            <a:noFill/>
            <a:ln>
              <a:noFill/>
            </a:ln>
          </p:spPr>
          <p:txBody>
            <a:bodyPr anchorCtr="0" anchor="ctr" bIns="91425" lIns="91425" spcFirstLastPara="1" rIns="91425" wrap="square" tIns="91425">
              <a:noAutofit/>
            </a:bodyPr>
            <a:lstStyle/>
            <a:p>
              <a:pPr indent="-330200" lvl="0" marL="457200" rtl="0" algn="l">
                <a:lnSpc>
                  <a:spcPct val="115000"/>
                </a:lnSpc>
                <a:spcBef>
                  <a:spcPts val="0"/>
                </a:spcBef>
                <a:spcAft>
                  <a:spcPts val="0"/>
                </a:spcAft>
                <a:buClr>
                  <a:srgbClr val="351C75"/>
                </a:buClr>
                <a:buSzPts val="1600"/>
                <a:buFont typeface="Roboto"/>
                <a:buChar char="●"/>
              </a:pPr>
              <a:r>
                <a:rPr lang="en" sz="1600">
                  <a:solidFill>
                    <a:srgbClr val="351C75"/>
                  </a:solidFill>
                  <a:latin typeface="Roboto"/>
                  <a:ea typeface="Roboto"/>
                  <a:cs typeface="Roboto"/>
                  <a:sym typeface="Roboto"/>
                </a:rPr>
                <a:t>Implement Ads to Platforms</a:t>
              </a:r>
              <a:endParaRPr sz="1600">
                <a:solidFill>
                  <a:srgbClr val="351C75"/>
                </a:solidFill>
                <a:latin typeface="Roboto"/>
                <a:ea typeface="Roboto"/>
                <a:cs typeface="Roboto"/>
                <a:sym typeface="Roboto"/>
              </a:endParaRPr>
            </a:p>
          </p:txBody>
        </p:sp>
      </p:grpSp>
      <p:grpSp>
        <p:nvGrpSpPr>
          <p:cNvPr id="139" name="Google Shape;139;p29"/>
          <p:cNvGrpSpPr/>
          <p:nvPr/>
        </p:nvGrpSpPr>
        <p:grpSpPr>
          <a:xfrm>
            <a:off x="1005851" y="1049074"/>
            <a:ext cx="7132292" cy="790475"/>
            <a:chOff x="1593000" y="2322568"/>
            <a:chExt cx="5957975" cy="643500"/>
          </a:xfrm>
        </p:grpSpPr>
        <p:sp>
          <p:nvSpPr>
            <p:cNvPr id="140" name="Google Shape;140;p29"/>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9"/>
            <p:cNvSpPr/>
            <p:nvPr/>
          </p:nvSpPr>
          <p:spPr>
            <a:xfrm flipH="1">
              <a:off x="2283025" y="2322575"/>
              <a:ext cx="1844400" cy="642600"/>
            </a:xfrm>
            <a:prstGeom prst="rect">
              <a:avLst/>
            </a:prstGeom>
            <a:solidFill>
              <a:srgbClr val="77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9"/>
            <p:cNvSpPr/>
            <p:nvPr/>
          </p:nvSpPr>
          <p:spPr>
            <a:xfrm rot="-5400000">
              <a:off x="3501574" y="1934671"/>
              <a:ext cx="643356" cy="1419149"/>
            </a:xfrm>
            <a:prstGeom prst="flowChartOffpageConnector">
              <a:avLst/>
            </a:prstGeom>
            <a:solidFill>
              <a:srgbClr val="77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9"/>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3000">
                  <a:solidFill>
                    <a:srgbClr val="FFFFFF"/>
                  </a:solidFill>
                  <a:latin typeface="Roboto Medium"/>
                  <a:ea typeface="Roboto Medium"/>
                  <a:cs typeface="Roboto Medium"/>
                  <a:sym typeface="Roboto Medium"/>
                </a:rPr>
                <a:t>Research</a:t>
              </a:r>
              <a:endParaRPr sz="3000">
                <a:solidFill>
                  <a:srgbClr val="FFFFFF"/>
                </a:solidFill>
                <a:latin typeface="Roboto"/>
                <a:ea typeface="Roboto"/>
                <a:cs typeface="Roboto"/>
                <a:sym typeface="Roboto"/>
              </a:endParaRPr>
            </a:p>
          </p:txBody>
        </p:sp>
        <p:sp>
          <p:nvSpPr>
            <p:cNvPr id="144" name="Google Shape;144;p29"/>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9"/>
            <p:cNvSpPr/>
            <p:nvPr/>
          </p:nvSpPr>
          <p:spPr>
            <a:xfrm>
              <a:off x="1593000" y="2322575"/>
              <a:ext cx="690000" cy="642600"/>
            </a:xfrm>
            <a:prstGeom prst="rect">
              <a:avLst/>
            </a:prstGeom>
            <a:solidFill>
              <a:srgbClr val="771E8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01</a:t>
              </a:r>
              <a:endParaRPr sz="2600">
                <a:solidFill>
                  <a:srgbClr val="FFFFFF"/>
                </a:solidFill>
                <a:latin typeface="Roboto Thin"/>
                <a:ea typeface="Roboto Thin"/>
                <a:cs typeface="Roboto Thin"/>
                <a:sym typeface="Roboto Thin"/>
              </a:endParaRPr>
            </a:p>
          </p:txBody>
        </p:sp>
        <p:sp>
          <p:nvSpPr>
            <p:cNvPr id="146" name="Google Shape;146;p29"/>
            <p:cNvSpPr/>
            <p:nvPr/>
          </p:nvSpPr>
          <p:spPr>
            <a:xfrm>
              <a:off x="4570394" y="2323750"/>
              <a:ext cx="2971200" cy="642300"/>
            </a:xfrm>
            <a:prstGeom prst="rect">
              <a:avLst/>
            </a:prstGeom>
            <a:noFill/>
            <a:ln>
              <a:noFill/>
            </a:ln>
          </p:spPr>
          <p:txBody>
            <a:bodyPr anchorCtr="0" anchor="ctr" bIns="91425" lIns="91425" spcFirstLastPara="1" rIns="91425" wrap="square" tIns="91425">
              <a:noAutofit/>
            </a:bodyPr>
            <a:lstStyle/>
            <a:p>
              <a:pPr indent="-330200" lvl="0" marL="457200" rtl="0" algn="l">
                <a:lnSpc>
                  <a:spcPct val="115000"/>
                </a:lnSpc>
                <a:spcBef>
                  <a:spcPts val="0"/>
                </a:spcBef>
                <a:spcAft>
                  <a:spcPts val="0"/>
                </a:spcAft>
                <a:buClr>
                  <a:srgbClr val="351C75"/>
                </a:buClr>
                <a:buSzPts val="1600"/>
                <a:buFont typeface="Roboto"/>
                <a:buChar char="●"/>
              </a:pPr>
              <a:r>
                <a:rPr lang="en" sz="1600">
                  <a:solidFill>
                    <a:srgbClr val="351C75"/>
                  </a:solidFill>
                  <a:latin typeface="Roboto"/>
                  <a:ea typeface="Roboto"/>
                  <a:cs typeface="Roboto"/>
                  <a:sym typeface="Roboto"/>
                </a:rPr>
                <a:t>Media Platforms</a:t>
              </a:r>
              <a:endParaRPr sz="1600">
                <a:solidFill>
                  <a:srgbClr val="351C75"/>
                </a:solidFill>
                <a:latin typeface="Roboto"/>
                <a:ea typeface="Roboto"/>
                <a:cs typeface="Roboto"/>
                <a:sym typeface="Roboto"/>
              </a:endParaRPr>
            </a:p>
            <a:p>
              <a:pPr indent="-330200" lvl="0" marL="457200" rtl="0" algn="l">
                <a:lnSpc>
                  <a:spcPct val="115000"/>
                </a:lnSpc>
                <a:spcBef>
                  <a:spcPts val="0"/>
                </a:spcBef>
                <a:spcAft>
                  <a:spcPts val="0"/>
                </a:spcAft>
                <a:buClr>
                  <a:srgbClr val="351C75"/>
                </a:buClr>
                <a:buSzPts val="1600"/>
                <a:buFont typeface="Roboto"/>
                <a:buChar char="●"/>
              </a:pPr>
              <a:r>
                <a:rPr lang="en" sz="1600">
                  <a:solidFill>
                    <a:srgbClr val="351C75"/>
                  </a:solidFill>
                  <a:latin typeface="Roboto"/>
                  <a:ea typeface="Roboto"/>
                  <a:cs typeface="Roboto"/>
                  <a:sym typeface="Roboto"/>
                </a:rPr>
                <a:t>Ad Types</a:t>
              </a:r>
              <a:endParaRPr sz="1600">
                <a:solidFill>
                  <a:srgbClr val="351C75"/>
                </a:solidFill>
                <a:latin typeface="Roboto"/>
                <a:ea typeface="Roboto"/>
                <a:cs typeface="Roboto"/>
                <a:sym typeface="Roboto"/>
              </a:endParaRPr>
            </a:p>
          </p:txBody>
        </p:sp>
      </p:grpSp>
      <p:grpSp>
        <p:nvGrpSpPr>
          <p:cNvPr id="147" name="Google Shape;147;p29"/>
          <p:cNvGrpSpPr/>
          <p:nvPr/>
        </p:nvGrpSpPr>
        <p:grpSpPr>
          <a:xfrm>
            <a:off x="1005851" y="3463404"/>
            <a:ext cx="7132292" cy="790475"/>
            <a:chOff x="1593000" y="2322568"/>
            <a:chExt cx="5957975" cy="643500"/>
          </a:xfrm>
        </p:grpSpPr>
        <p:sp>
          <p:nvSpPr>
            <p:cNvPr id="148" name="Google Shape;148;p29"/>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9"/>
            <p:cNvSpPr/>
            <p:nvPr/>
          </p:nvSpPr>
          <p:spPr>
            <a:xfrm flipH="1">
              <a:off x="2283025" y="2322575"/>
              <a:ext cx="1844400" cy="642600"/>
            </a:xfrm>
            <a:prstGeom prst="rect">
              <a:avLst/>
            </a:prstGeom>
            <a:solidFill>
              <a:srgbClr val="8E7C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9"/>
            <p:cNvSpPr/>
            <p:nvPr/>
          </p:nvSpPr>
          <p:spPr>
            <a:xfrm rot="-5400000">
              <a:off x="3501574" y="1934671"/>
              <a:ext cx="643356" cy="1419149"/>
            </a:xfrm>
            <a:prstGeom prst="flowChartOffpageConnector">
              <a:avLst/>
            </a:prstGeom>
            <a:solidFill>
              <a:srgbClr val="8E7C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9"/>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3000">
                  <a:solidFill>
                    <a:srgbClr val="FFFFFF"/>
                  </a:solidFill>
                  <a:latin typeface="Roboto Medium"/>
                  <a:ea typeface="Roboto Medium"/>
                  <a:cs typeface="Roboto Medium"/>
                  <a:sym typeface="Roboto Medium"/>
                </a:rPr>
                <a:t>Collect</a:t>
              </a:r>
              <a:endParaRPr sz="3000">
                <a:solidFill>
                  <a:srgbClr val="FFFFFF"/>
                </a:solidFill>
                <a:latin typeface="Roboto Medium"/>
                <a:ea typeface="Roboto Medium"/>
                <a:cs typeface="Roboto Medium"/>
                <a:sym typeface="Roboto Medium"/>
              </a:endParaRPr>
            </a:p>
          </p:txBody>
        </p:sp>
        <p:sp>
          <p:nvSpPr>
            <p:cNvPr id="152" name="Google Shape;152;p29"/>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9"/>
            <p:cNvSpPr/>
            <p:nvPr/>
          </p:nvSpPr>
          <p:spPr>
            <a:xfrm>
              <a:off x="1593000" y="2322575"/>
              <a:ext cx="690000" cy="642600"/>
            </a:xfrm>
            <a:prstGeom prst="rect">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04</a:t>
              </a:r>
              <a:endParaRPr sz="2600">
                <a:solidFill>
                  <a:srgbClr val="FFFFFF"/>
                </a:solidFill>
                <a:latin typeface="Roboto Thin"/>
                <a:ea typeface="Roboto Thin"/>
                <a:cs typeface="Roboto Thin"/>
                <a:sym typeface="Roboto Thin"/>
              </a:endParaRPr>
            </a:p>
          </p:txBody>
        </p:sp>
        <p:sp>
          <p:nvSpPr>
            <p:cNvPr id="154" name="Google Shape;154;p29"/>
            <p:cNvSpPr/>
            <p:nvPr/>
          </p:nvSpPr>
          <p:spPr>
            <a:xfrm>
              <a:off x="4570394" y="2323750"/>
              <a:ext cx="2971200" cy="642300"/>
            </a:xfrm>
            <a:prstGeom prst="rect">
              <a:avLst/>
            </a:prstGeom>
            <a:noFill/>
            <a:ln>
              <a:noFill/>
            </a:ln>
          </p:spPr>
          <p:txBody>
            <a:bodyPr anchorCtr="0" anchor="ctr" bIns="91425" lIns="91425" spcFirstLastPara="1" rIns="91425" wrap="square" tIns="91425">
              <a:noAutofit/>
            </a:bodyPr>
            <a:lstStyle/>
            <a:p>
              <a:pPr indent="-330200" lvl="0" marL="457200" rtl="0" algn="l">
                <a:lnSpc>
                  <a:spcPct val="115000"/>
                </a:lnSpc>
                <a:spcBef>
                  <a:spcPts val="0"/>
                </a:spcBef>
                <a:spcAft>
                  <a:spcPts val="0"/>
                </a:spcAft>
                <a:buClr>
                  <a:srgbClr val="351C75"/>
                </a:buClr>
                <a:buSzPts val="1600"/>
                <a:buFont typeface="Roboto"/>
                <a:buChar char="●"/>
              </a:pPr>
              <a:r>
                <a:rPr lang="en" sz="1600">
                  <a:solidFill>
                    <a:srgbClr val="351C75"/>
                  </a:solidFill>
                  <a:latin typeface="Roboto"/>
                  <a:ea typeface="Roboto"/>
                  <a:cs typeface="Roboto"/>
                  <a:sym typeface="Roboto"/>
                </a:rPr>
                <a:t>Collect Ad Performance</a:t>
              </a:r>
              <a:endParaRPr sz="1600">
                <a:solidFill>
                  <a:srgbClr val="351C75"/>
                </a:solidFill>
                <a:latin typeface="Roboto"/>
                <a:ea typeface="Roboto"/>
                <a:cs typeface="Roboto"/>
                <a:sym typeface="Roboto"/>
              </a:endParaRPr>
            </a:p>
          </p:txBody>
        </p:sp>
      </p:grpSp>
      <p:grpSp>
        <p:nvGrpSpPr>
          <p:cNvPr id="155" name="Google Shape;155;p29"/>
          <p:cNvGrpSpPr/>
          <p:nvPr/>
        </p:nvGrpSpPr>
        <p:grpSpPr>
          <a:xfrm>
            <a:off x="1005851" y="2658622"/>
            <a:ext cx="7132292" cy="790475"/>
            <a:chOff x="1593000" y="2322568"/>
            <a:chExt cx="5957975" cy="643500"/>
          </a:xfrm>
        </p:grpSpPr>
        <p:sp>
          <p:nvSpPr>
            <p:cNvPr id="156" name="Google Shape;156;p29"/>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9"/>
            <p:cNvSpPr/>
            <p:nvPr/>
          </p:nvSpPr>
          <p:spPr>
            <a:xfrm flipH="1">
              <a:off x="2283025" y="2322575"/>
              <a:ext cx="1844400" cy="642600"/>
            </a:xfrm>
            <a:prstGeom prst="rect">
              <a:avLst/>
            </a:prstGeom>
            <a:solidFill>
              <a:srgbClr val="674E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9"/>
            <p:cNvSpPr/>
            <p:nvPr/>
          </p:nvSpPr>
          <p:spPr>
            <a:xfrm rot="-5400000">
              <a:off x="3501574" y="1934671"/>
              <a:ext cx="643356" cy="1419149"/>
            </a:xfrm>
            <a:prstGeom prst="flowChartOffpageConnector">
              <a:avLst/>
            </a:prstGeom>
            <a:solidFill>
              <a:srgbClr val="674E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9"/>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3000">
                  <a:solidFill>
                    <a:srgbClr val="FFFFFF"/>
                  </a:solidFill>
                  <a:latin typeface="Roboto Medium"/>
                  <a:ea typeface="Roboto Medium"/>
                  <a:cs typeface="Roboto Medium"/>
                  <a:sym typeface="Roboto Medium"/>
                </a:rPr>
                <a:t>Adapt</a:t>
              </a:r>
              <a:endParaRPr sz="3000">
                <a:solidFill>
                  <a:srgbClr val="FFFFFF"/>
                </a:solidFill>
                <a:latin typeface="Roboto Medium"/>
                <a:ea typeface="Roboto Medium"/>
                <a:cs typeface="Roboto Medium"/>
                <a:sym typeface="Roboto Medium"/>
              </a:endParaRPr>
            </a:p>
          </p:txBody>
        </p:sp>
        <p:sp>
          <p:nvSpPr>
            <p:cNvPr id="160" name="Google Shape;160;p29"/>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9"/>
            <p:cNvSpPr/>
            <p:nvPr/>
          </p:nvSpPr>
          <p:spPr>
            <a:xfrm>
              <a:off x="1593000" y="2322575"/>
              <a:ext cx="690000" cy="642600"/>
            </a:xfrm>
            <a:prstGeom prst="rect">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03</a:t>
              </a:r>
              <a:endParaRPr sz="2600">
                <a:solidFill>
                  <a:srgbClr val="FFFFFF"/>
                </a:solidFill>
                <a:latin typeface="Roboto Thin"/>
                <a:ea typeface="Roboto Thin"/>
                <a:cs typeface="Roboto Thin"/>
                <a:sym typeface="Roboto Thin"/>
              </a:endParaRPr>
            </a:p>
          </p:txBody>
        </p:sp>
        <p:sp>
          <p:nvSpPr>
            <p:cNvPr id="162" name="Google Shape;162;p29"/>
            <p:cNvSpPr/>
            <p:nvPr/>
          </p:nvSpPr>
          <p:spPr>
            <a:xfrm>
              <a:off x="4570394" y="2323750"/>
              <a:ext cx="2971200" cy="642300"/>
            </a:xfrm>
            <a:prstGeom prst="rect">
              <a:avLst/>
            </a:prstGeom>
            <a:noFill/>
            <a:ln>
              <a:noFill/>
            </a:ln>
          </p:spPr>
          <p:txBody>
            <a:bodyPr anchorCtr="0" anchor="ctr" bIns="91425" lIns="91425" spcFirstLastPara="1" rIns="91425" wrap="square" tIns="91425">
              <a:noAutofit/>
            </a:bodyPr>
            <a:lstStyle/>
            <a:p>
              <a:pPr indent="-330200" lvl="0" marL="457200" rtl="0" algn="l">
                <a:lnSpc>
                  <a:spcPct val="115000"/>
                </a:lnSpc>
                <a:spcBef>
                  <a:spcPts val="0"/>
                </a:spcBef>
                <a:spcAft>
                  <a:spcPts val="0"/>
                </a:spcAft>
                <a:buClr>
                  <a:srgbClr val="351C75"/>
                </a:buClr>
                <a:buSzPts val="1600"/>
                <a:buFont typeface="Roboto"/>
                <a:buChar char="●"/>
              </a:pPr>
              <a:r>
                <a:rPr lang="en" sz="1600">
                  <a:solidFill>
                    <a:srgbClr val="351C75"/>
                  </a:solidFill>
                  <a:latin typeface="Roboto"/>
                  <a:ea typeface="Roboto"/>
                  <a:cs typeface="Roboto"/>
                  <a:sym typeface="Roboto"/>
                </a:rPr>
                <a:t>Case Studies</a:t>
              </a:r>
              <a:endParaRPr sz="1600">
                <a:solidFill>
                  <a:srgbClr val="674EA7"/>
                </a:solidFill>
                <a:latin typeface="Roboto"/>
                <a:ea typeface="Roboto"/>
                <a:cs typeface="Roboto"/>
                <a:sym typeface="Roboto"/>
              </a:endParaRPr>
            </a:p>
          </p:txBody>
        </p:sp>
      </p:grpSp>
      <p:grpSp>
        <p:nvGrpSpPr>
          <p:cNvPr id="163" name="Google Shape;163;p29"/>
          <p:cNvGrpSpPr/>
          <p:nvPr/>
        </p:nvGrpSpPr>
        <p:grpSpPr>
          <a:xfrm>
            <a:off x="1005851" y="4268178"/>
            <a:ext cx="7132292" cy="790475"/>
            <a:chOff x="1593000" y="2322568"/>
            <a:chExt cx="5957975" cy="643500"/>
          </a:xfrm>
        </p:grpSpPr>
        <p:sp>
          <p:nvSpPr>
            <p:cNvPr id="164" name="Google Shape;164;p29"/>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9"/>
            <p:cNvSpPr/>
            <p:nvPr/>
          </p:nvSpPr>
          <p:spPr>
            <a:xfrm flipH="1">
              <a:off x="2283025" y="2322575"/>
              <a:ext cx="1844400" cy="642600"/>
            </a:xfrm>
            <a:prstGeom prst="rect">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9"/>
            <p:cNvSpPr/>
            <p:nvPr/>
          </p:nvSpPr>
          <p:spPr>
            <a:xfrm rot="-5400000">
              <a:off x="3501574" y="1934671"/>
              <a:ext cx="643356" cy="1419149"/>
            </a:xfrm>
            <a:prstGeom prst="flowChartOffpageConnector">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9"/>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3000">
                  <a:solidFill>
                    <a:srgbClr val="FFFFFF"/>
                  </a:solidFill>
                  <a:latin typeface="Roboto Medium"/>
                  <a:ea typeface="Roboto Medium"/>
                  <a:cs typeface="Roboto Medium"/>
                  <a:sym typeface="Roboto Medium"/>
                </a:rPr>
                <a:t>Conclude</a:t>
              </a:r>
              <a:endParaRPr sz="3000">
                <a:solidFill>
                  <a:srgbClr val="FFFFFF"/>
                </a:solidFill>
                <a:latin typeface="Roboto Medium"/>
                <a:ea typeface="Roboto Medium"/>
                <a:cs typeface="Roboto Medium"/>
                <a:sym typeface="Roboto Medium"/>
              </a:endParaRPr>
            </a:p>
          </p:txBody>
        </p:sp>
        <p:sp>
          <p:nvSpPr>
            <p:cNvPr id="168" name="Google Shape;168;p29"/>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9"/>
            <p:cNvSpPr/>
            <p:nvPr/>
          </p:nvSpPr>
          <p:spPr>
            <a:xfrm>
              <a:off x="1593000" y="2322575"/>
              <a:ext cx="690000" cy="642600"/>
            </a:xfrm>
            <a:prstGeom prst="rect">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05</a:t>
              </a:r>
              <a:endParaRPr sz="2600">
                <a:solidFill>
                  <a:srgbClr val="FFFFFF"/>
                </a:solidFill>
                <a:latin typeface="Roboto Thin"/>
                <a:ea typeface="Roboto Thin"/>
                <a:cs typeface="Roboto Thin"/>
                <a:sym typeface="Roboto Thin"/>
              </a:endParaRPr>
            </a:p>
          </p:txBody>
        </p:sp>
        <p:sp>
          <p:nvSpPr>
            <p:cNvPr id="170" name="Google Shape;170;p29"/>
            <p:cNvSpPr/>
            <p:nvPr/>
          </p:nvSpPr>
          <p:spPr>
            <a:xfrm>
              <a:off x="4570394" y="2323750"/>
              <a:ext cx="2971200" cy="642300"/>
            </a:xfrm>
            <a:prstGeom prst="rect">
              <a:avLst/>
            </a:prstGeom>
            <a:noFill/>
            <a:ln>
              <a:noFill/>
            </a:ln>
          </p:spPr>
          <p:txBody>
            <a:bodyPr anchorCtr="0" anchor="ctr" bIns="91425" lIns="91425" spcFirstLastPara="1" rIns="91425" wrap="square" tIns="91425">
              <a:noAutofit/>
            </a:bodyPr>
            <a:lstStyle/>
            <a:p>
              <a:pPr indent="-330200" lvl="0" marL="457200" rtl="0" algn="l">
                <a:lnSpc>
                  <a:spcPct val="115000"/>
                </a:lnSpc>
                <a:spcBef>
                  <a:spcPts val="0"/>
                </a:spcBef>
                <a:spcAft>
                  <a:spcPts val="0"/>
                </a:spcAft>
                <a:buClr>
                  <a:srgbClr val="351C75"/>
                </a:buClr>
                <a:buSzPts val="1600"/>
                <a:buFont typeface="Roboto"/>
                <a:buChar char="●"/>
              </a:pPr>
              <a:r>
                <a:rPr lang="en" sz="1600">
                  <a:solidFill>
                    <a:srgbClr val="351C75"/>
                  </a:solidFill>
                  <a:latin typeface="Roboto"/>
                  <a:ea typeface="Roboto"/>
                  <a:cs typeface="Roboto"/>
                  <a:sym typeface="Roboto"/>
                </a:rPr>
                <a:t>Handoff</a:t>
              </a:r>
              <a:endParaRPr sz="1600">
                <a:solidFill>
                  <a:srgbClr val="351C75"/>
                </a:solidFill>
                <a:latin typeface="Roboto"/>
                <a:ea typeface="Roboto"/>
                <a:cs typeface="Roboto"/>
                <a:sym typeface="Roboto"/>
              </a:endParaRPr>
            </a:p>
          </p:txBody>
        </p:sp>
      </p:grpSp>
      <p:pic>
        <p:nvPicPr>
          <p:cNvPr id="171" name="Google Shape;171;p29"/>
          <p:cNvPicPr preferRelativeResize="0"/>
          <p:nvPr/>
        </p:nvPicPr>
        <p:blipFill>
          <a:blip r:embed="rId3">
            <a:alphaModFix/>
          </a:blip>
          <a:stretch>
            <a:fillRect/>
          </a:stretch>
        </p:blipFill>
        <p:spPr>
          <a:xfrm>
            <a:off x="7291143" y="1090588"/>
            <a:ext cx="714346" cy="707848"/>
          </a:xfrm>
          <a:prstGeom prst="rect">
            <a:avLst/>
          </a:prstGeom>
          <a:noFill/>
          <a:ln>
            <a:noFill/>
          </a:ln>
        </p:spPr>
      </p:pic>
      <p:pic>
        <p:nvPicPr>
          <p:cNvPr id="172" name="Google Shape;172;p29"/>
          <p:cNvPicPr preferRelativeResize="0"/>
          <p:nvPr/>
        </p:nvPicPr>
        <p:blipFill>
          <a:blip r:embed="rId4">
            <a:alphaModFix/>
          </a:blip>
          <a:stretch>
            <a:fillRect/>
          </a:stretch>
        </p:blipFill>
        <p:spPr>
          <a:xfrm>
            <a:off x="7336527" y="3504909"/>
            <a:ext cx="572622" cy="707849"/>
          </a:xfrm>
          <a:prstGeom prst="rect">
            <a:avLst/>
          </a:prstGeom>
          <a:noFill/>
          <a:ln>
            <a:noFill/>
          </a:ln>
        </p:spPr>
      </p:pic>
      <p:sp>
        <p:nvSpPr>
          <p:cNvPr id="173" name="Google Shape;173;p29"/>
          <p:cNvSpPr txBox="1"/>
          <p:nvPr/>
        </p:nvSpPr>
        <p:spPr>
          <a:xfrm>
            <a:off x="332250" y="77175"/>
            <a:ext cx="8479500" cy="974100"/>
          </a:xfrm>
          <a:prstGeom prst="rect">
            <a:avLst/>
          </a:prstGeom>
          <a:noFill/>
          <a:ln>
            <a:noFill/>
          </a:ln>
        </p:spPr>
        <p:txBody>
          <a:bodyPr anchorCtr="0" anchor="b" bIns="182850" lIns="182850" spcFirstLastPara="1" rIns="182850" wrap="square" tIns="182850">
            <a:noAutofit/>
          </a:bodyPr>
          <a:lstStyle/>
          <a:p>
            <a:pPr indent="0" lvl="0" marL="0" rtl="0" algn="ctr">
              <a:spcBef>
                <a:spcPts val="0"/>
              </a:spcBef>
              <a:spcAft>
                <a:spcPts val="0"/>
              </a:spcAft>
              <a:buNone/>
            </a:pPr>
            <a:r>
              <a:rPr b="1" lang="en" sz="3600">
                <a:latin typeface="Century Gothic"/>
                <a:ea typeface="Century Gothic"/>
                <a:cs typeface="Century Gothic"/>
                <a:sym typeface="Century Gothic"/>
              </a:rPr>
              <a:t>Methodology</a:t>
            </a:r>
            <a:endParaRPr b="1" sz="3600">
              <a:solidFill>
                <a:srgbClr val="000000"/>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7" name="Shape 177"/>
        <p:cNvGrpSpPr/>
        <p:nvPr/>
      </p:nvGrpSpPr>
      <p:grpSpPr>
        <a:xfrm>
          <a:off x="0" y="0"/>
          <a:ext cx="0" cy="0"/>
          <a:chOff x="0" y="0"/>
          <a:chExt cx="0" cy="0"/>
        </a:xfrm>
      </p:grpSpPr>
      <p:sp>
        <p:nvSpPr>
          <p:cNvPr id="178" name="Google Shape;178;p30"/>
          <p:cNvSpPr txBox="1"/>
          <p:nvPr/>
        </p:nvSpPr>
        <p:spPr>
          <a:xfrm>
            <a:off x="332250" y="77175"/>
            <a:ext cx="8479500" cy="974100"/>
          </a:xfrm>
          <a:prstGeom prst="rect">
            <a:avLst/>
          </a:prstGeom>
          <a:noFill/>
          <a:ln>
            <a:noFill/>
          </a:ln>
        </p:spPr>
        <p:txBody>
          <a:bodyPr anchorCtr="0" anchor="b" bIns="182850" lIns="182850" spcFirstLastPara="1" rIns="182850" wrap="square" tIns="182850">
            <a:noAutofit/>
          </a:bodyPr>
          <a:lstStyle/>
          <a:p>
            <a:pPr indent="0" lvl="0" marL="0" rtl="0" algn="ctr">
              <a:spcBef>
                <a:spcPts val="0"/>
              </a:spcBef>
              <a:spcAft>
                <a:spcPts val="0"/>
              </a:spcAft>
              <a:buNone/>
            </a:pPr>
            <a:r>
              <a:rPr b="1" lang="en" sz="3600">
                <a:latin typeface="Century Gothic"/>
                <a:ea typeface="Century Gothic"/>
                <a:cs typeface="Century Gothic"/>
                <a:sym typeface="Century Gothic"/>
              </a:rPr>
              <a:t>Audiences</a:t>
            </a:r>
            <a:endParaRPr b="1" sz="3600">
              <a:solidFill>
                <a:srgbClr val="000000"/>
              </a:solidFill>
              <a:latin typeface="Century Gothic"/>
              <a:ea typeface="Century Gothic"/>
              <a:cs typeface="Century Gothic"/>
              <a:sym typeface="Century Gothic"/>
            </a:endParaRPr>
          </a:p>
        </p:txBody>
      </p:sp>
      <p:sp>
        <p:nvSpPr>
          <p:cNvPr id="179" name="Google Shape;179;p30"/>
          <p:cNvSpPr/>
          <p:nvPr/>
        </p:nvSpPr>
        <p:spPr>
          <a:xfrm>
            <a:off x="6235047" y="1721375"/>
            <a:ext cx="2322000" cy="2440200"/>
          </a:xfrm>
          <a:prstGeom prst="ellipse">
            <a:avLst/>
          </a:prstGeom>
          <a:solidFill>
            <a:srgbClr val="802090"/>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Roboto"/>
                <a:ea typeface="Roboto"/>
                <a:cs typeface="Roboto"/>
                <a:sym typeface="Roboto"/>
              </a:rPr>
              <a:t>Promote JourneyBlazers to businesses and customers</a:t>
            </a:r>
            <a:endParaRPr sz="1600"/>
          </a:p>
        </p:txBody>
      </p:sp>
      <p:sp>
        <p:nvSpPr>
          <p:cNvPr id="180" name="Google Shape;180;p30"/>
          <p:cNvSpPr/>
          <p:nvPr/>
        </p:nvSpPr>
        <p:spPr>
          <a:xfrm>
            <a:off x="3529769" y="1721366"/>
            <a:ext cx="2440200" cy="2440200"/>
          </a:xfrm>
          <a:prstGeom prst="ellipse">
            <a:avLst/>
          </a:prstGeom>
          <a:solidFill>
            <a:srgbClr val="802090"/>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Roboto"/>
                <a:ea typeface="Roboto"/>
                <a:cs typeface="Roboto"/>
                <a:sym typeface="Roboto"/>
              </a:rPr>
              <a:t>Decision making power</a:t>
            </a:r>
            <a:endParaRPr sz="1600">
              <a:solidFill>
                <a:schemeClr val="lt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t/>
            </a:r>
            <a:endParaRPr sz="1600">
              <a:solidFill>
                <a:schemeClr val="lt1"/>
              </a:solidFill>
              <a:latin typeface="Roboto"/>
              <a:ea typeface="Roboto"/>
              <a:cs typeface="Roboto"/>
              <a:sym typeface="Roboto"/>
            </a:endParaRPr>
          </a:p>
          <a:p>
            <a:pPr indent="0" lvl="0" marL="0" rtl="0" algn="ctr">
              <a:spcBef>
                <a:spcPts val="0"/>
              </a:spcBef>
              <a:spcAft>
                <a:spcPts val="0"/>
              </a:spcAft>
              <a:buNone/>
            </a:pPr>
            <a:r>
              <a:rPr lang="en" sz="1600">
                <a:solidFill>
                  <a:schemeClr val="lt1"/>
                </a:solidFill>
                <a:latin typeface="Roboto"/>
                <a:ea typeface="Roboto"/>
                <a:cs typeface="Roboto"/>
                <a:sym typeface="Roboto"/>
              </a:rPr>
              <a:t>Crucial input for Salesforce Licenses </a:t>
            </a:r>
            <a:endParaRPr sz="1600"/>
          </a:p>
        </p:txBody>
      </p:sp>
      <p:sp>
        <p:nvSpPr>
          <p:cNvPr id="181" name="Google Shape;181;p30"/>
          <p:cNvSpPr/>
          <p:nvPr/>
        </p:nvSpPr>
        <p:spPr>
          <a:xfrm>
            <a:off x="824669" y="1721366"/>
            <a:ext cx="2440200" cy="2440200"/>
          </a:xfrm>
          <a:prstGeom prst="ellipse">
            <a:avLst/>
          </a:prstGeom>
          <a:solidFill>
            <a:srgbClr val="802090"/>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Roboto"/>
                <a:ea typeface="Roboto"/>
                <a:cs typeface="Roboto"/>
                <a:sym typeface="Roboto"/>
              </a:rPr>
              <a:t>Customer Relationships</a:t>
            </a:r>
            <a:endParaRPr sz="1600">
              <a:solidFill>
                <a:schemeClr val="lt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t/>
            </a:r>
            <a:endParaRPr sz="1600">
              <a:solidFill>
                <a:schemeClr val="lt1"/>
              </a:solidFill>
              <a:latin typeface="Roboto"/>
              <a:ea typeface="Roboto"/>
              <a:cs typeface="Roboto"/>
              <a:sym typeface="Roboto"/>
            </a:endParaRPr>
          </a:p>
          <a:p>
            <a:pPr indent="0" lvl="0" marL="0" rtl="0" algn="ctr">
              <a:spcBef>
                <a:spcPts val="0"/>
              </a:spcBef>
              <a:spcAft>
                <a:spcPts val="0"/>
              </a:spcAft>
              <a:buNone/>
            </a:pPr>
            <a:r>
              <a:rPr lang="en" sz="1600">
                <a:solidFill>
                  <a:schemeClr val="lt1"/>
                </a:solidFill>
                <a:latin typeface="Roboto"/>
                <a:ea typeface="Roboto"/>
                <a:cs typeface="Roboto"/>
                <a:sym typeface="Roboto"/>
              </a:rPr>
              <a:t>Manages Salesforce Licenses</a:t>
            </a:r>
            <a:endParaRPr sz="1600"/>
          </a:p>
        </p:txBody>
      </p:sp>
      <p:sp>
        <p:nvSpPr>
          <p:cNvPr id="182" name="Google Shape;182;p30"/>
          <p:cNvSpPr txBox="1"/>
          <p:nvPr/>
        </p:nvSpPr>
        <p:spPr>
          <a:xfrm>
            <a:off x="3753950" y="1051275"/>
            <a:ext cx="1866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dk2"/>
                </a:solidFill>
              </a:rPr>
              <a:t>Leadership</a:t>
            </a:r>
            <a:endParaRPr sz="2400"/>
          </a:p>
        </p:txBody>
      </p:sp>
      <p:sp>
        <p:nvSpPr>
          <p:cNvPr id="183" name="Google Shape;183;p30"/>
          <p:cNvSpPr txBox="1"/>
          <p:nvPr/>
        </p:nvSpPr>
        <p:spPr>
          <a:xfrm>
            <a:off x="1107500" y="898875"/>
            <a:ext cx="18663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dk2"/>
                </a:solidFill>
              </a:rPr>
              <a:t>Account Executives</a:t>
            </a:r>
            <a:endParaRPr sz="2400"/>
          </a:p>
        </p:txBody>
      </p:sp>
      <p:sp>
        <p:nvSpPr>
          <p:cNvPr id="184" name="Google Shape;184;p30"/>
          <p:cNvSpPr txBox="1"/>
          <p:nvPr/>
        </p:nvSpPr>
        <p:spPr>
          <a:xfrm>
            <a:off x="6552800" y="898875"/>
            <a:ext cx="18663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dk2"/>
                </a:solidFill>
              </a:rPr>
              <a:t>Salesforce Employees</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 name="Shape 188"/>
        <p:cNvGrpSpPr/>
        <p:nvPr/>
      </p:nvGrpSpPr>
      <p:grpSpPr>
        <a:xfrm>
          <a:off x="0" y="0"/>
          <a:ext cx="0" cy="0"/>
          <a:chOff x="0" y="0"/>
          <a:chExt cx="0" cy="0"/>
        </a:xfrm>
      </p:grpSpPr>
      <p:sp>
        <p:nvSpPr>
          <p:cNvPr id="189" name="Google Shape;189;p31"/>
          <p:cNvSpPr txBox="1"/>
          <p:nvPr/>
        </p:nvSpPr>
        <p:spPr>
          <a:xfrm>
            <a:off x="332250" y="77175"/>
            <a:ext cx="8479500" cy="974100"/>
          </a:xfrm>
          <a:prstGeom prst="rect">
            <a:avLst/>
          </a:prstGeom>
          <a:noFill/>
          <a:ln>
            <a:noFill/>
          </a:ln>
        </p:spPr>
        <p:txBody>
          <a:bodyPr anchorCtr="0" anchor="b" bIns="182850" lIns="182850" spcFirstLastPara="1" rIns="182850" wrap="square" tIns="182850">
            <a:noAutofit/>
          </a:bodyPr>
          <a:lstStyle/>
          <a:p>
            <a:pPr indent="0" lvl="0" marL="0" rtl="0" algn="ctr">
              <a:spcBef>
                <a:spcPts val="0"/>
              </a:spcBef>
              <a:spcAft>
                <a:spcPts val="0"/>
              </a:spcAft>
              <a:buNone/>
            </a:pPr>
            <a:r>
              <a:rPr b="1" lang="en" sz="3600">
                <a:latin typeface="Century Gothic"/>
                <a:ea typeface="Century Gothic"/>
                <a:cs typeface="Century Gothic"/>
                <a:sym typeface="Century Gothic"/>
              </a:rPr>
              <a:t>LinkedIn Ad</a:t>
            </a:r>
            <a:endParaRPr b="1" sz="3600">
              <a:solidFill>
                <a:srgbClr val="000000"/>
              </a:solidFill>
              <a:latin typeface="Century Gothic"/>
              <a:ea typeface="Century Gothic"/>
              <a:cs typeface="Century Gothic"/>
              <a:sym typeface="Century Gothic"/>
            </a:endParaRPr>
          </a:p>
        </p:txBody>
      </p:sp>
      <p:pic>
        <p:nvPicPr>
          <p:cNvPr id="190" name="Google Shape;190;p31"/>
          <p:cNvPicPr preferRelativeResize="0"/>
          <p:nvPr/>
        </p:nvPicPr>
        <p:blipFill>
          <a:blip r:embed="rId4">
            <a:alphaModFix/>
          </a:blip>
          <a:stretch>
            <a:fillRect/>
          </a:stretch>
        </p:blipFill>
        <p:spPr>
          <a:xfrm>
            <a:off x="601613" y="1172450"/>
            <a:ext cx="8093174" cy="2991475"/>
          </a:xfrm>
          <a:prstGeom prst="rect">
            <a:avLst/>
          </a:prstGeom>
          <a:noFill/>
          <a:ln cap="flat" cmpd="sng" w="38100">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4" name="Shape 194"/>
        <p:cNvGrpSpPr/>
        <p:nvPr/>
      </p:nvGrpSpPr>
      <p:grpSpPr>
        <a:xfrm>
          <a:off x="0" y="0"/>
          <a:ext cx="0" cy="0"/>
          <a:chOff x="0" y="0"/>
          <a:chExt cx="0" cy="0"/>
        </a:xfrm>
      </p:grpSpPr>
      <p:sp>
        <p:nvSpPr>
          <p:cNvPr id="195" name="Google Shape;195;p32"/>
          <p:cNvSpPr txBox="1"/>
          <p:nvPr/>
        </p:nvSpPr>
        <p:spPr>
          <a:xfrm>
            <a:off x="332250" y="77175"/>
            <a:ext cx="8479500" cy="974100"/>
          </a:xfrm>
          <a:prstGeom prst="rect">
            <a:avLst/>
          </a:prstGeom>
          <a:noFill/>
          <a:ln>
            <a:noFill/>
          </a:ln>
        </p:spPr>
        <p:txBody>
          <a:bodyPr anchorCtr="0" anchor="b" bIns="182850" lIns="182850" spcFirstLastPara="1" rIns="182850" wrap="square" tIns="182850">
            <a:noAutofit/>
          </a:bodyPr>
          <a:lstStyle/>
          <a:p>
            <a:pPr indent="0" lvl="0" marL="0" rtl="0" algn="ctr">
              <a:spcBef>
                <a:spcPts val="0"/>
              </a:spcBef>
              <a:spcAft>
                <a:spcPts val="0"/>
              </a:spcAft>
              <a:buNone/>
            </a:pPr>
            <a:r>
              <a:rPr b="1" lang="en" sz="3600">
                <a:latin typeface="Century Gothic"/>
                <a:ea typeface="Century Gothic"/>
                <a:cs typeface="Century Gothic"/>
                <a:sym typeface="Century Gothic"/>
              </a:rPr>
              <a:t>Target Audience</a:t>
            </a:r>
            <a:endParaRPr b="1" sz="3600">
              <a:solidFill>
                <a:srgbClr val="000000"/>
              </a:solidFill>
              <a:latin typeface="Century Gothic"/>
              <a:ea typeface="Century Gothic"/>
              <a:cs typeface="Century Gothic"/>
              <a:sym typeface="Century Gothic"/>
            </a:endParaRPr>
          </a:p>
        </p:txBody>
      </p:sp>
      <p:pic>
        <p:nvPicPr>
          <p:cNvPr id="196" name="Google Shape;196;p32"/>
          <p:cNvPicPr preferRelativeResize="0"/>
          <p:nvPr/>
        </p:nvPicPr>
        <p:blipFill>
          <a:blip r:embed="rId4">
            <a:alphaModFix/>
          </a:blip>
          <a:stretch>
            <a:fillRect/>
          </a:stretch>
        </p:blipFill>
        <p:spPr>
          <a:xfrm>
            <a:off x="2130274" y="1051275"/>
            <a:ext cx="4703948" cy="3372775"/>
          </a:xfrm>
          <a:prstGeom prst="rect">
            <a:avLst/>
          </a:prstGeom>
          <a:noFill/>
          <a:ln cap="flat" cmpd="sng" w="38100">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0" name="Shape 200"/>
        <p:cNvGrpSpPr/>
        <p:nvPr/>
      </p:nvGrpSpPr>
      <p:grpSpPr>
        <a:xfrm>
          <a:off x="0" y="0"/>
          <a:ext cx="0" cy="0"/>
          <a:chOff x="0" y="0"/>
          <a:chExt cx="0" cy="0"/>
        </a:xfrm>
      </p:grpSpPr>
      <p:pic>
        <p:nvPicPr>
          <p:cNvPr id="201" name="Google Shape;201;p33"/>
          <p:cNvPicPr preferRelativeResize="0"/>
          <p:nvPr/>
        </p:nvPicPr>
        <p:blipFill rotWithShape="1">
          <a:blip r:embed="rId4">
            <a:alphaModFix/>
          </a:blip>
          <a:srcRect b="62993" l="0" r="990" t="13624"/>
          <a:stretch/>
        </p:blipFill>
        <p:spPr>
          <a:xfrm>
            <a:off x="2469950" y="1051275"/>
            <a:ext cx="3068144" cy="1038051"/>
          </a:xfrm>
          <a:prstGeom prst="rect">
            <a:avLst/>
          </a:prstGeom>
          <a:noFill/>
          <a:ln cap="flat" cmpd="sng" w="19050">
            <a:solidFill>
              <a:srgbClr val="000000"/>
            </a:solidFill>
            <a:prstDash val="solid"/>
            <a:round/>
            <a:headEnd len="sm" w="sm" type="none"/>
            <a:tailEnd len="sm" w="sm" type="none"/>
          </a:ln>
        </p:spPr>
      </p:pic>
      <p:sp>
        <p:nvSpPr>
          <p:cNvPr id="202" name="Google Shape;202;p33"/>
          <p:cNvSpPr txBox="1"/>
          <p:nvPr/>
        </p:nvSpPr>
        <p:spPr>
          <a:xfrm>
            <a:off x="332250" y="77175"/>
            <a:ext cx="8479500" cy="974100"/>
          </a:xfrm>
          <a:prstGeom prst="rect">
            <a:avLst/>
          </a:prstGeom>
          <a:noFill/>
          <a:ln>
            <a:noFill/>
          </a:ln>
        </p:spPr>
        <p:txBody>
          <a:bodyPr anchorCtr="0" anchor="b" bIns="182850" lIns="182850" spcFirstLastPara="1" rIns="182850" wrap="square" tIns="182850">
            <a:noAutofit/>
          </a:bodyPr>
          <a:lstStyle/>
          <a:p>
            <a:pPr indent="0" lvl="0" marL="0" rtl="0" algn="ctr">
              <a:spcBef>
                <a:spcPts val="0"/>
              </a:spcBef>
              <a:spcAft>
                <a:spcPts val="0"/>
              </a:spcAft>
              <a:buNone/>
            </a:pPr>
            <a:r>
              <a:rPr b="1" lang="en" sz="3600">
                <a:latin typeface="Century Gothic"/>
                <a:ea typeface="Century Gothic"/>
                <a:cs typeface="Century Gothic"/>
                <a:sym typeface="Century Gothic"/>
              </a:rPr>
              <a:t>Final Deliverable</a:t>
            </a:r>
            <a:endParaRPr b="1" sz="3600">
              <a:solidFill>
                <a:srgbClr val="000000"/>
              </a:solidFill>
              <a:latin typeface="Century Gothic"/>
              <a:ea typeface="Century Gothic"/>
              <a:cs typeface="Century Gothic"/>
              <a:sym typeface="Century Gothic"/>
            </a:endParaRPr>
          </a:p>
        </p:txBody>
      </p:sp>
      <p:pic>
        <p:nvPicPr>
          <p:cNvPr id="203" name="Google Shape;203;p33"/>
          <p:cNvPicPr preferRelativeResize="0"/>
          <p:nvPr/>
        </p:nvPicPr>
        <p:blipFill rotWithShape="1">
          <a:blip r:embed="rId4">
            <a:alphaModFix/>
          </a:blip>
          <a:srcRect b="44338" l="0" r="1380" t="37453"/>
          <a:stretch/>
        </p:blipFill>
        <p:spPr>
          <a:xfrm>
            <a:off x="2469950" y="2249650"/>
            <a:ext cx="3068144" cy="811523"/>
          </a:xfrm>
          <a:prstGeom prst="rect">
            <a:avLst/>
          </a:prstGeom>
          <a:noFill/>
          <a:ln cap="flat" cmpd="sng" w="19050">
            <a:solidFill>
              <a:srgbClr val="000000"/>
            </a:solidFill>
            <a:prstDash val="solid"/>
            <a:round/>
            <a:headEnd len="sm" w="sm" type="none"/>
            <a:tailEnd len="sm" w="sm" type="none"/>
          </a:ln>
        </p:spPr>
      </p:pic>
      <p:pic>
        <p:nvPicPr>
          <p:cNvPr id="204" name="Google Shape;204;p33"/>
          <p:cNvPicPr preferRelativeResize="0"/>
          <p:nvPr/>
        </p:nvPicPr>
        <p:blipFill rotWithShape="1">
          <a:blip r:embed="rId4">
            <a:alphaModFix/>
          </a:blip>
          <a:srcRect b="15592" l="0" r="1584" t="56083"/>
          <a:stretch/>
        </p:blipFill>
        <p:spPr>
          <a:xfrm>
            <a:off x="2469950" y="3221500"/>
            <a:ext cx="3068144" cy="1265048"/>
          </a:xfrm>
          <a:prstGeom prst="rect">
            <a:avLst/>
          </a:prstGeom>
          <a:noFill/>
          <a:ln cap="flat" cmpd="sng" w="19050">
            <a:solidFill>
              <a:srgbClr val="000000"/>
            </a:solidFill>
            <a:prstDash val="solid"/>
            <a:round/>
            <a:headEnd len="sm" w="sm" type="none"/>
            <a:tailEnd len="sm" w="sm" type="none"/>
          </a:ln>
        </p:spPr>
      </p:pic>
      <p:sp>
        <p:nvSpPr>
          <p:cNvPr id="205" name="Google Shape;205;p33"/>
          <p:cNvSpPr txBox="1"/>
          <p:nvPr/>
        </p:nvSpPr>
        <p:spPr>
          <a:xfrm>
            <a:off x="6296653" y="1339450"/>
            <a:ext cx="24636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t>Capture Attention</a:t>
            </a:r>
            <a:endParaRPr sz="1500"/>
          </a:p>
        </p:txBody>
      </p:sp>
      <p:sp>
        <p:nvSpPr>
          <p:cNvPr id="206" name="Google Shape;206;p33"/>
          <p:cNvSpPr/>
          <p:nvPr/>
        </p:nvSpPr>
        <p:spPr>
          <a:xfrm>
            <a:off x="5646785" y="1051300"/>
            <a:ext cx="423600" cy="1038000"/>
          </a:xfrm>
          <a:prstGeom prst="rightBrace">
            <a:avLst>
              <a:gd fmla="val 0" name="adj1"/>
              <a:gd fmla="val 5067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33"/>
          <p:cNvSpPr/>
          <p:nvPr/>
        </p:nvSpPr>
        <p:spPr>
          <a:xfrm>
            <a:off x="5646785" y="2249650"/>
            <a:ext cx="423600" cy="811500"/>
          </a:xfrm>
          <a:prstGeom prst="rightBrace">
            <a:avLst>
              <a:gd fmla="val 0" name="adj1"/>
              <a:gd fmla="val 5067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33"/>
          <p:cNvSpPr/>
          <p:nvPr/>
        </p:nvSpPr>
        <p:spPr>
          <a:xfrm>
            <a:off x="5646785" y="3221500"/>
            <a:ext cx="423600" cy="1265100"/>
          </a:xfrm>
          <a:prstGeom prst="rightBrace">
            <a:avLst>
              <a:gd fmla="val 0" name="adj1"/>
              <a:gd fmla="val 5067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33"/>
          <p:cNvSpPr txBox="1"/>
          <p:nvPr/>
        </p:nvSpPr>
        <p:spPr>
          <a:xfrm>
            <a:off x="6296650" y="2198200"/>
            <a:ext cx="2463600" cy="9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t>Inform</a:t>
            </a:r>
            <a:endParaRPr sz="1500"/>
          </a:p>
          <a:p>
            <a:pPr indent="0" lvl="0" marL="0" rtl="0" algn="l">
              <a:spcBef>
                <a:spcPts val="0"/>
              </a:spcBef>
              <a:spcAft>
                <a:spcPts val="0"/>
              </a:spcAft>
              <a:buClr>
                <a:schemeClr val="dk1"/>
              </a:buClr>
              <a:buSzPts val="1100"/>
              <a:buFont typeface="Arial"/>
              <a:buNone/>
            </a:pPr>
            <a:r>
              <a:rPr lang="en" sz="1500">
                <a:solidFill>
                  <a:schemeClr val="dk1"/>
                </a:solidFill>
              </a:rPr>
              <a:t>Build Credibility</a:t>
            </a:r>
            <a:endParaRPr sz="1500"/>
          </a:p>
          <a:p>
            <a:pPr indent="0" lvl="0" marL="0" rtl="0" algn="l">
              <a:spcBef>
                <a:spcPts val="0"/>
              </a:spcBef>
              <a:spcAft>
                <a:spcPts val="0"/>
              </a:spcAft>
              <a:buNone/>
            </a:pPr>
            <a:r>
              <a:rPr lang="en" sz="1500"/>
              <a:t>Persuade</a:t>
            </a:r>
            <a:endParaRPr sz="1500"/>
          </a:p>
          <a:p>
            <a:pPr indent="0" lvl="0" marL="0" rtl="0" algn="l">
              <a:spcBef>
                <a:spcPts val="0"/>
              </a:spcBef>
              <a:spcAft>
                <a:spcPts val="0"/>
              </a:spcAft>
              <a:buNone/>
            </a:pPr>
            <a:r>
              <a:t/>
            </a:r>
            <a:endParaRPr sz="1500"/>
          </a:p>
        </p:txBody>
      </p:sp>
      <p:sp>
        <p:nvSpPr>
          <p:cNvPr id="210" name="Google Shape;210;p33"/>
          <p:cNvSpPr txBox="1"/>
          <p:nvPr/>
        </p:nvSpPr>
        <p:spPr>
          <a:xfrm>
            <a:off x="6296653" y="3623200"/>
            <a:ext cx="24636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t>Generate Leads</a:t>
            </a:r>
            <a:endParaRPr sz="1500"/>
          </a:p>
        </p:txBody>
      </p:sp>
      <p:sp>
        <p:nvSpPr>
          <p:cNvPr id="211" name="Google Shape;211;p33"/>
          <p:cNvSpPr txBox="1"/>
          <p:nvPr/>
        </p:nvSpPr>
        <p:spPr>
          <a:xfrm>
            <a:off x="942250" y="1339450"/>
            <a:ext cx="1269900" cy="46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Header</a:t>
            </a:r>
            <a:endParaRPr b="1" sz="1800"/>
          </a:p>
        </p:txBody>
      </p:sp>
      <p:sp>
        <p:nvSpPr>
          <p:cNvPr id="212" name="Google Shape;212;p33"/>
          <p:cNvSpPr txBox="1"/>
          <p:nvPr/>
        </p:nvSpPr>
        <p:spPr>
          <a:xfrm>
            <a:off x="942250" y="2424550"/>
            <a:ext cx="1269900" cy="46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Tagline</a:t>
            </a:r>
            <a:endParaRPr b="1" sz="1800"/>
          </a:p>
        </p:txBody>
      </p:sp>
      <p:sp>
        <p:nvSpPr>
          <p:cNvPr id="213" name="Google Shape;213;p33"/>
          <p:cNvSpPr txBox="1"/>
          <p:nvPr/>
        </p:nvSpPr>
        <p:spPr>
          <a:xfrm>
            <a:off x="942250" y="3623175"/>
            <a:ext cx="1269900" cy="46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CTA</a:t>
            </a:r>
            <a:endParaRPr b="1"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ctrTitle"/>
          </p:nvPr>
        </p:nvSpPr>
        <p:spPr>
          <a:xfrm>
            <a:off x="311708" y="8969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Case Study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title"/>
          </p:nvPr>
        </p:nvSpPr>
        <p:spPr>
          <a:xfrm>
            <a:off x="553500" y="243600"/>
            <a:ext cx="8037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Objective</a:t>
            </a:r>
            <a:endParaRPr/>
          </a:p>
        </p:txBody>
      </p:sp>
      <p:pic>
        <p:nvPicPr>
          <p:cNvPr id="224" name="Google Shape;224;p35"/>
          <p:cNvPicPr preferRelativeResize="0"/>
          <p:nvPr/>
        </p:nvPicPr>
        <p:blipFill>
          <a:blip r:embed="rId3">
            <a:alphaModFix/>
          </a:blip>
          <a:stretch>
            <a:fillRect/>
          </a:stretch>
        </p:blipFill>
        <p:spPr>
          <a:xfrm>
            <a:off x="752650" y="2806275"/>
            <a:ext cx="2124975" cy="1471733"/>
          </a:xfrm>
          <a:prstGeom prst="rect">
            <a:avLst/>
          </a:prstGeom>
          <a:noFill/>
          <a:ln>
            <a:noFill/>
          </a:ln>
        </p:spPr>
      </p:pic>
      <p:pic>
        <p:nvPicPr>
          <p:cNvPr id="225" name="Google Shape;225;p35"/>
          <p:cNvPicPr preferRelativeResize="0"/>
          <p:nvPr/>
        </p:nvPicPr>
        <p:blipFill rotWithShape="1">
          <a:blip r:embed="rId4">
            <a:alphaModFix/>
          </a:blip>
          <a:srcRect b="23848" l="34377" r="33969" t="23553"/>
          <a:stretch/>
        </p:blipFill>
        <p:spPr>
          <a:xfrm>
            <a:off x="3501600" y="2806275"/>
            <a:ext cx="1684418" cy="1471725"/>
          </a:xfrm>
          <a:prstGeom prst="rect">
            <a:avLst/>
          </a:prstGeom>
          <a:noFill/>
          <a:ln>
            <a:noFill/>
          </a:ln>
        </p:spPr>
      </p:pic>
      <p:pic>
        <p:nvPicPr>
          <p:cNvPr id="226" name="Google Shape;226;p35"/>
          <p:cNvPicPr preferRelativeResize="0"/>
          <p:nvPr/>
        </p:nvPicPr>
        <p:blipFill>
          <a:blip r:embed="rId5">
            <a:alphaModFix/>
          </a:blip>
          <a:stretch>
            <a:fillRect/>
          </a:stretch>
        </p:blipFill>
        <p:spPr>
          <a:xfrm>
            <a:off x="5809999" y="2806275"/>
            <a:ext cx="2628105" cy="1471725"/>
          </a:xfrm>
          <a:prstGeom prst="rect">
            <a:avLst/>
          </a:prstGeom>
          <a:noFill/>
          <a:ln>
            <a:noFill/>
          </a:ln>
        </p:spPr>
      </p:pic>
      <p:sp>
        <p:nvSpPr>
          <p:cNvPr id="227" name="Google Shape;227;p35"/>
          <p:cNvSpPr txBox="1"/>
          <p:nvPr>
            <p:ph idx="1" type="body"/>
          </p:nvPr>
        </p:nvSpPr>
        <p:spPr>
          <a:xfrm>
            <a:off x="553500" y="1116775"/>
            <a:ext cx="6811800" cy="1671900"/>
          </a:xfrm>
          <a:prstGeom prst="rect">
            <a:avLst/>
          </a:prstGeom>
        </p:spPr>
        <p:txBody>
          <a:bodyPr anchorCtr="0" anchor="t" bIns="91425" lIns="91425" spcFirstLastPara="1" rIns="91425" wrap="square" tIns="91425">
            <a:noAutofit/>
          </a:bodyPr>
          <a:lstStyle/>
          <a:p>
            <a:pPr indent="-355600" lvl="0" marL="457200" rtl="0" algn="l">
              <a:lnSpc>
                <a:spcPct val="200000"/>
              </a:lnSpc>
              <a:spcBef>
                <a:spcPts val="0"/>
              </a:spcBef>
              <a:spcAft>
                <a:spcPts val="0"/>
              </a:spcAft>
              <a:buSzPts val="2000"/>
              <a:buChar char="●"/>
            </a:pPr>
            <a:r>
              <a:rPr lang="en" sz="2000"/>
              <a:t>Develop hands-on experience with data analytics tools</a:t>
            </a:r>
            <a:endParaRPr sz="2000"/>
          </a:p>
          <a:p>
            <a:pPr indent="-355600" lvl="0" marL="457200" rtl="0" algn="l">
              <a:lnSpc>
                <a:spcPct val="200000"/>
              </a:lnSpc>
              <a:spcBef>
                <a:spcPts val="0"/>
              </a:spcBef>
              <a:spcAft>
                <a:spcPts val="0"/>
              </a:spcAft>
              <a:buSzPts val="2000"/>
              <a:buChar char="●"/>
            </a:pPr>
            <a:r>
              <a:rPr lang="en" sz="2000"/>
              <a:t>Answer </a:t>
            </a:r>
            <a:r>
              <a:rPr lang="en" sz="2000"/>
              <a:t>analysis questions </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6"/>
          <p:cNvSpPr txBox="1"/>
          <p:nvPr>
            <p:ph type="title"/>
          </p:nvPr>
        </p:nvSpPr>
        <p:spPr>
          <a:xfrm>
            <a:off x="553500" y="243600"/>
            <a:ext cx="8037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Mock Apple Sales Dataset</a:t>
            </a:r>
            <a:endParaRPr/>
          </a:p>
        </p:txBody>
      </p:sp>
      <p:pic>
        <p:nvPicPr>
          <p:cNvPr id="233" name="Google Shape;233;p36"/>
          <p:cNvPicPr preferRelativeResize="0"/>
          <p:nvPr/>
        </p:nvPicPr>
        <p:blipFill>
          <a:blip r:embed="rId3">
            <a:alphaModFix/>
          </a:blip>
          <a:stretch>
            <a:fillRect/>
          </a:stretch>
        </p:blipFill>
        <p:spPr>
          <a:xfrm>
            <a:off x="769162" y="91199"/>
            <a:ext cx="790525" cy="974450"/>
          </a:xfrm>
          <a:prstGeom prst="rect">
            <a:avLst/>
          </a:prstGeom>
          <a:noFill/>
          <a:ln>
            <a:noFill/>
          </a:ln>
        </p:spPr>
      </p:pic>
      <p:graphicFrame>
        <p:nvGraphicFramePr>
          <p:cNvPr id="234" name="Google Shape;234;p36"/>
          <p:cNvGraphicFramePr/>
          <p:nvPr/>
        </p:nvGraphicFramePr>
        <p:xfrm>
          <a:off x="621041" y="2021925"/>
          <a:ext cx="3000000" cy="3000000"/>
        </p:xfrm>
        <a:graphic>
          <a:graphicData uri="http://schemas.openxmlformats.org/drawingml/2006/table">
            <a:tbl>
              <a:tblPr>
                <a:noFill/>
                <a:tableStyleId>{73CB8AF1-AA57-4808-B51F-CC07D759BD55}</a:tableStyleId>
              </a:tblPr>
              <a:tblGrid>
                <a:gridCol w="1056225"/>
                <a:gridCol w="805275"/>
                <a:gridCol w="1301275"/>
                <a:gridCol w="1079625"/>
                <a:gridCol w="1057850"/>
                <a:gridCol w="1603025"/>
                <a:gridCol w="1567500"/>
              </a:tblGrid>
              <a:tr h="381000">
                <a:tc>
                  <a:txBody>
                    <a:bodyPr/>
                    <a:lstStyle/>
                    <a:p>
                      <a:pPr indent="0" lvl="0" marL="0" rtl="0" algn="l">
                        <a:spcBef>
                          <a:spcPts val="0"/>
                        </a:spcBef>
                        <a:spcAft>
                          <a:spcPts val="0"/>
                        </a:spcAft>
                        <a:buNone/>
                      </a:pPr>
                      <a:r>
                        <a:rPr b="1" lang="en"/>
                        <a:t>State</a:t>
                      </a:r>
                      <a:endParaRPr b="1"/>
                    </a:p>
                  </a:txBody>
                  <a:tcPr marT="91425" marB="91425" marR="91425" marL="91425">
                    <a:solidFill>
                      <a:schemeClr val="lt2"/>
                    </a:solidFill>
                  </a:tcPr>
                </a:tc>
                <a:tc>
                  <a:txBody>
                    <a:bodyPr/>
                    <a:lstStyle/>
                    <a:p>
                      <a:pPr indent="0" lvl="0" marL="0" rtl="0" algn="l">
                        <a:spcBef>
                          <a:spcPts val="0"/>
                        </a:spcBef>
                        <a:spcAft>
                          <a:spcPts val="0"/>
                        </a:spcAft>
                        <a:buNone/>
                      </a:pPr>
                      <a:r>
                        <a:rPr b="1" lang="en"/>
                        <a:t>Region</a:t>
                      </a:r>
                      <a:endParaRPr b="1"/>
                    </a:p>
                  </a:txBody>
                  <a:tcPr marT="91425" marB="91425" marR="91425" marL="91425">
                    <a:solidFill>
                      <a:schemeClr val="lt2"/>
                    </a:solidFill>
                  </a:tcPr>
                </a:tc>
                <a:tc>
                  <a:txBody>
                    <a:bodyPr/>
                    <a:lstStyle/>
                    <a:p>
                      <a:pPr indent="0" lvl="0" marL="0" rtl="0" algn="l">
                        <a:spcBef>
                          <a:spcPts val="0"/>
                        </a:spcBef>
                        <a:spcAft>
                          <a:spcPts val="0"/>
                        </a:spcAft>
                        <a:buNone/>
                      </a:pPr>
                      <a:r>
                        <a:rPr b="1" lang="en"/>
                        <a:t>iPhone Sales </a:t>
                      </a:r>
                      <a:r>
                        <a:rPr lang="en"/>
                        <a:t>(in million units)</a:t>
                      </a:r>
                      <a:endParaRPr/>
                    </a:p>
                  </a:txBody>
                  <a:tcPr marT="91425" marB="91425" marR="91425" marL="91425">
                    <a:solidFill>
                      <a:schemeClr val="lt2"/>
                    </a:solidFill>
                  </a:tcPr>
                </a:tc>
                <a:tc>
                  <a:txBody>
                    <a:bodyPr/>
                    <a:lstStyle/>
                    <a:p>
                      <a:pPr indent="0" lvl="0" marL="0" rtl="0" algn="l">
                        <a:spcBef>
                          <a:spcPts val="0"/>
                        </a:spcBef>
                        <a:spcAft>
                          <a:spcPts val="0"/>
                        </a:spcAft>
                        <a:buNone/>
                      </a:pPr>
                      <a:r>
                        <a:rPr b="1" lang="en"/>
                        <a:t>iPad Sales </a:t>
                      </a:r>
                      <a:r>
                        <a:rPr lang="en"/>
                        <a:t>(in million units)</a:t>
                      </a:r>
                      <a:endParaRPr/>
                    </a:p>
                  </a:txBody>
                  <a:tcPr marT="91425" marB="91425" marR="91425" marL="91425">
                    <a:solidFill>
                      <a:schemeClr val="lt2"/>
                    </a:solidFill>
                  </a:tcPr>
                </a:tc>
                <a:tc>
                  <a:txBody>
                    <a:bodyPr/>
                    <a:lstStyle/>
                    <a:p>
                      <a:pPr indent="0" lvl="0" marL="0" rtl="0" algn="l">
                        <a:spcBef>
                          <a:spcPts val="0"/>
                        </a:spcBef>
                        <a:spcAft>
                          <a:spcPts val="0"/>
                        </a:spcAft>
                        <a:buNone/>
                      </a:pPr>
                      <a:r>
                        <a:rPr b="1" lang="en"/>
                        <a:t>Mac Sales </a:t>
                      </a:r>
                      <a:r>
                        <a:rPr lang="en"/>
                        <a:t>(in million units)</a:t>
                      </a:r>
                      <a:endParaRPr/>
                    </a:p>
                  </a:txBody>
                  <a:tcPr marT="91425" marB="91425" marR="91425" marL="91425">
                    <a:solidFill>
                      <a:schemeClr val="lt2"/>
                    </a:solidFill>
                  </a:tcPr>
                </a:tc>
                <a:tc>
                  <a:txBody>
                    <a:bodyPr/>
                    <a:lstStyle/>
                    <a:p>
                      <a:pPr indent="0" lvl="0" marL="0" rtl="0" algn="l">
                        <a:spcBef>
                          <a:spcPts val="0"/>
                        </a:spcBef>
                        <a:spcAft>
                          <a:spcPts val="0"/>
                        </a:spcAft>
                        <a:buNone/>
                      </a:pPr>
                      <a:r>
                        <a:rPr b="1" lang="en"/>
                        <a:t>Wearables Sales </a:t>
                      </a:r>
                      <a:r>
                        <a:rPr lang="en"/>
                        <a:t>(in million units)</a:t>
                      </a:r>
                      <a:endParaRPr/>
                    </a:p>
                  </a:txBody>
                  <a:tcPr marT="91425" marB="91425" marR="91425" marL="91425">
                    <a:solidFill>
                      <a:schemeClr val="lt2"/>
                    </a:solidFill>
                  </a:tcPr>
                </a:tc>
                <a:tc>
                  <a:txBody>
                    <a:bodyPr/>
                    <a:lstStyle/>
                    <a:p>
                      <a:pPr indent="0" lvl="0" marL="0" rtl="0" algn="l">
                        <a:spcBef>
                          <a:spcPts val="0"/>
                        </a:spcBef>
                        <a:spcAft>
                          <a:spcPts val="0"/>
                        </a:spcAft>
                        <a:buNone/>
                      </a:pPr>
                      <a:r>
                        <a:rPr b="1" lang="en"/>
                        <a:t>Service Revenue </a:t>
                      </a:r>
                      <a:endParaRPr b="1"/>
                    </a:p>
                    <a:p>
                      <a:pPr indent="0" lvl="0" marL="0" rtl="0" algn="l">
                        <a:spcBef>
                          <a:spcPts val="0"/>
                        </a:spcBef>
                        <a:spcAft>
                          <a:spcPts val="0"/>
                        </a:spcAft>
                        <a:buNone/>
                      </a:pPr>
                      <a:r>
                        <a:rPr lang="en"/>
                        <a:t>(in billion $)</a:t>
                      </a:r>
                      <a:endParaRPr/>
                    </a:p>
                  </a:txBody>
                  <a:tcPr marT="91425" marB="91425" marR="91425" marL="91425">
                    <a:solidFill>
                      <a:schemeClr val="lt2"/>
                    </a:solidFill>
                  </a:tcPr>
                </a:tc>
              </a:tr>
              <a:tr h="381000">
                <a:tc>
                  <a:txBody>
                    <a:bodyPr/>
                    <a:lstStyle/>
                    <a:p>
                      <a:pPr indent="0" lvl="0" marL="0" rtl="0" algn="l">
                        <a:spcBef>
                          <a:spcPts val="0"/>
                        </a:spcBef>
                        <a:spcAft>
                          <a:spcPts val="0"/>
                        </a:spcAft>
                        <a:buNone/>
                      </a:pPr>
                      <a:r>
                        <a:rPr lang="en"/>
                        <a:t>Chongqing</a:t>
                      </a:r>
                      <a:endParaRPr/>
                    </a:p>
                  </a:txBody>
                  <a:tcPr marT="91425" marB="91425" marR="91425" marL="91425"/>
                </a:tc>
                <a:tc>
                  <a:txBody>
                    <a:bodyPr/>
                    <a:lstStyle/>
                    <a:p>
                      <a:pPr indent="0" lvl="0" marL="0" rtl="0" algn="l">
                        <a:spcBef>
                          <a:spcPts val="0"/>
                        </a:spcBef>
                        <a:spcAft>
                          <a:spcPts val="0"/>
                        </a:spcAft>
                        <a:buNone/>
                      </a:pPr>
                      <a:r>
                        <a:rPr lang="en"/>
                        <a:t>Greater China</a:t>
                      </a:r>
                      <a:endParaRPr/>
                    </a:p>
                  </a:txBody>
                  <a:tcPr marT="91425" marB="91425" marR="91425" marL="91425"/>
                </a:tc>
                <a:tc>
                  <a:txBody>
                    <a:bodyPr/>
                    <a:lstStyle/>
                    <a:p>
                      <a:pPr indent="0" lvl="0" marL="0" rtl="0" algn="l">
                        <a:spcBef>
                          <a:spcPts val="0"/>
                        </a:spcBef>
                        <a:spcAft>
                          <a:spcPts val="0"/>
                        </a:spcAft>
                        <a:buNone/>
                      </a:pPr>
                      <a:r>
                        <a:rPr lang="en"/>
                        <a:t>7.46</a:t>
                      </a:r>
                      <a:endParaRPr/>
                    </a:p>
                  </a:txBody>
                  <a:tcPr marT="91425" marB="91425" marR="91425" marL="91425"/>
                </a:tc>
                <a:tc>
                  <a:txBody>
                    <a:bodyPr/>
                    <a:lstStyle/>
                    <a:p>
                      <a:pPr indent="0" lvl="0" marL="0" rtl="0" algn="l">
                        <a:spcBef>
                          <a:spcPts val="0"/>
                        </a:spcBef>
                        <a:spcAft>
                          <a:spcPts val="0"/>
                        </a:spcAft>
                        <a:buNone/>
                      </a:pPr>
                      <a:r>
                        <a:rPr lang="en"/>
                        <a:t>6.75</a:t>
                      </a:r>
                      <a:endParaRPr/>
                    </a:p>
                  </a:txBody>
                  <a:tcPr marT="91425" marB="91425" marR="91425" marL="91425"/>
                </a:tc>
                <a:tc>
                  <a:txBody>
                    <a:bodyPr/>
                    <a:lstStyle/>
                    <a:p>
                      <a:pPr indent="0" lvl="0" marL="0" rtl="0" algn="l">
                        <a:spcBef>
                          <a:spcPts val="0"/>
                        </a:spcBef>
                        <a:spcAft>
                          <a:spcPts val="0"/>
                        </a:spcAft>
                        <a:buNone/>
                      </a:pPr>
                      <a:r>
                        <a:rPr lang="en"/>
                        <a:t>1.19</a:t>
                      </a:r>
                      <a:endParaRPr/>
                    </a:p>
                  </a:txBody>
                  <a:tcPr marT="91425" marB="91425" marR="91425" marL="91425"/>
                </a:tc>
                <a:tc>
                  <a:txBody>
                    <a:bodyPr/>
                    <a:lstStyle/>
                    <a:p>
                      <a:pPr indent="0" lvl="0" marL="0" rtl="0" algn="l">
                        <a:spcBef>
                          <a:spcPts val="0"/>
                        </a:spcBef>
                        <a:spcAft>
                          <a:spcPts val="0"/>
                        </a:spcAft>
                        <a:buNone/>
                      </a:pPr>
                      <a:r>
                        <a:rPr lang="en"/>
                        <a:t>5.88</a:t>
                      </a:r>
                      <a:endParaRPr/>
                    </a:p>
                  </a:txBody>
                  <a:tcPr marT="91425" marB="91425" marR="91425" marL="91425"/>
                </a:tc>
                <a:tc>
                  <a:txBody>
                    <a:bodyPr/>
                    <a:lstStyle/>
                    <a:p>
                      <a:pPr indent="0" lvl="0" marL="0" rtl="0" algn="l">
                        <a:spcBef>
                          <a:spcPts val="0"/>
                        </a:spcBef>
                        <a:spcAft>
                          <a:spcPts val="0"/>
                        </a:spcAft>
                        <a:buNone/>
                      </a:pPr>
                      <a:r>
                        <a:rPr lang="en"/>
                        <a:t>15.88</a:t>
                      </a:r>
                      <a:endParaRPr/>
                    </a:p>
                  </a:txBody>
                  <a:tcPr marT="91425" marB="91425" marR="91425" marL="91425"/>
                </a:tc>
              </a:tr>
              <a:tr h="381000">
                <a:tc>
                  <a:txBody>
                    <a:bodyPr/>
                    <a:lstStyle/>
                    <a:p>
                      <a:pPr indent="0" lvl="0" marL="0" rtl="0" algn="l">
                        <a:spcBef>
                          <a:spcPts val="0"/>
                        </a:spcBef>
                        <a:spcAft>
                          <a:spcPts val="0"/>
                        </a:spcAft>
                        <a:buNone/>
                      </a:pPr>
                      <a:r>
                        <a:rPr lang="en"/>
                        <a:t>Germany</a:t>
                      </a:r>
                      <a:endParaRPr/>
                    </a:p>
                  </a:txBody>
                  <a:tcPr marT="91425" marB="91425" marR="91425" marL="91425"/>
                </a:tc>
                <a:tc>
                  <a:txBody>
                    <a:bodyPr/>
                    <a:lstStyle/>
                    <a:p>
                      <a:pPr indent="0" lvl="0" marL="0" rtl="0" algn="l">
                        <a:spcBef>
                          <a:spcPts val="0"/>
                        </a:spcBef>
                        <a:spcAft>
                          <a:spcPts val="0"/>
                        </a:spcAft>
                        <a:buNone/>
                      </a:pPr>
                      <a:r>
                        <a:rPr lang="en"/>
                        <a:t>Europe</a:t>
                      </a:r>
                      <a:endParaRPr/>
                    </a:p>
                  </a:txBody>
                  <a:tcPr marT="91425" marB="91425" marR="91425" marL="91425"/>
                </a:tc>
                <a:tc>
                  <a:txBody>
                    <a:bodyPr/>
                    <a:lstStyle/>
                    <a:p>
                      <a:pPr indent="0" lvl="0" marL="0" rtl="0" algn="l">
                        <a:spcBef>
                          <a:spcPts val="0"/>
                        </a:spcBef>
                        <a:spcAft>
                          <a:spcPts val="0"/>
                        </a:spcAft>
                        <a:buNone/>
                      </a:pPr>
                      <a:r>
                        <a:rPr lang="en"/>
                        <a:t>8.63</a:t>
                      </a:r>
                      <a:endParaRPr/>
                    </a:p>
                  </a:txBody>
                  <a:tcPr marT="91425" marB="91425" marR="91425" marL="91425"/>
                </a:tc>
                <a:tc>
                  <a:txBody>
                    <a:bodyPr/>
                    <a:lstStyle/>
                    <a:p>
                      <a:pPr indent="0" lvl="0" marL="0" rtl="0" algn="l">
                        <a:spcBef>
                          <a:spcPts val="0"/>
                        </a:spcBef>
                        <a:spcAft>
                          <a:spcPts val="0"/>
                        </a:spcAft>
                        <a:buNone/>
                      </a:pPr>
                      <a:r>
                        <a:rPr lang="en"/>
                        <a:t>14.06</a:t>
                      </a:r>
                      <a:endParaRPr/>
                    </a:p>
                  </a:txBody>
                  <a:tcPr marT="91425" marB="91425" marR="91425" marL="91425"/>
                </a:tc>
                <a:tc>
                  <a:txBody>
                    <a:bodyPr/>
                    <a:lstStyle/>
                    <a:p>
                      <a:pPr indent="0" lvl="0" marL="0" rtl="0" algn="l">
                        <a:spcBef>
                          <a:spcPts val="0"/>
                        </a:spcBef>
                        <a:spcAft>
                          <a:spcPts val="0"/>
                        </a:spcAft>
                        <a:buNone/>
                      </a:pPr>
                      <a:r>
                        <a:rPr lang="en"/>
                        <a:t>7.03</a:t>
                      </a:r>
                      <a:endParaRPr/>
                    </a:p>
                  </a:txBody>
                  <a:tcPr marT="91425" marB="91425" marR="91425" marL="91425"/>
                </a:tc>
                <a:tc>
                  <a:txBody>
                    <a:bodyPr/>
                    <a:lstStyle/>
                    <a:p>
                      <a:pPr indent="0" lvl="0" marL="0" rtl="0" algn="l">
                        <a:spcBef>
                          <a:spcPts val="0"/>
                        </a:spcBef>
                        <a:spcAft>
                          <a:spcPts val="0"/>
                        </a:spcAft>
                        <a:buNone/>
                      </a:pPr>
                      <a:r>
                        <a:rPr lang="en"/>
                        <a:t>7.42</a:t>
                      </a:r>
                      <a:endParaRPr/>
                    </a:p>
                  </a:txBody>
                  <a:tcPr marT="91425" marB="91425" marR="91425" marL="91425"/>
                </a:tc>
                <a:tc>
                  <a:txBody>
                    <a:bodyPr/>
                    <a:lstStyle/>
                    <a:p>
                      <a:pPr indent="0" lvl="0" marL="0" rtl="0" algn="l">
                        <a:spcBef>
                          <a:spcPts val="0"/>
                        </a:spcBef>
                        <a:spcAft>
                          <a:spcPts val="0"/>
                        </a:spcAft>
                        <a:buNone/>
                      </a:pPr>
                      <a:r>
                        <a:rPr lang="en"/>
                        <a:t>10.12</a:t>
                      </a:r>
                      <a:endParaRPr/>
                    </a:p>
                  </a:txBody>
                  <a:tcPr marT="91425" marB="91425" marR="91425" marL="91425"/>
                </a:tc>
              </a:tr>
            </a:tbl>
          </a:graphicData>
        </a:graphic>
      </p:graphicFrame>
      <p:sp>
        <p:nvSpPr>
          <p:cNvPr id="235" name="Google Shape;235;p36"/>
          <p:cNvSpPr/>
          <p:nvPr/>
        </p:nvSpPr>
        <p:spPr>
          <a:xfrm rot="-5400000">
            <a:off x="4920025" y="-576800"/>
            <a:ext cx="150000" cy="4962900"/>
          </a:xfrm>
          <a:prstGeom prst="rightBracket">
            <a:avLst>
              <a:gd fmla="val 8333"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36"/>
          <p:cNvSpPr txBox="1"/>
          <p:nvPr/>
        </p:nvSpPr>
        <p:spPr>
          <a:xfrm>
            <a:off x="2677225" y="1330750"/>
            <a:ext cx="4588800" cy="45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rPr>
              <a:t>Device Sales</a:t>
            </a:r>
            <a:endParaRPr b="1" sz="1600">
              <a:solidFill>
                <a:schemeClr val="dk1"/>
              </a:solidFill>
            </a:endParaRPr>
          </a:p>
        </p:txBody>
      </p:sp>
      <p:sp>
        <p:nvSpPr>
          <p:cNvPr id="237" name="Google Shape;237;p36"/>
          <p:cNvSpPr/>
          <p:nvPr/>
        </p:nvSpPr>
        <p:spPr>
          <a:xfrm rot="-5400000">
            <a:off x="8234400" y="1170850"/>
            <a:ext cx="150000" cy="1467600"/>
          </a:xfrm>
          <a:prstGeom prst="rightBracket">
            <a:avLst>
              <a:gd fmla="val 8333"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36"/>
          <p:cNvSpPr txBox="1"/>
          <p:nvPr/>
        </p:nvSpPr>
        <p:spPr>
          <a:xfrm>
            <a:off x="7308450" y="1330750"/>
            <a:ext cx="2001900" cy="45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rPr>
              <a:t>Service Revenue</a:t>
            </a:r>
            <a:endParaRPr b="1" sz="16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type="title"/>
          </p:nvPr>
        </p:nvSpPr>
        <p:spPr>
          <a:xfrm>
            <a:off x="553500" y="-796825"/>
            <a:ext cx="8037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Key Takeaways</a:t>
            </a:r>
            <a:endParaRPr/>
          </a:p>
        </p:txBody>
      </p:sp>
      <p:sp>
        <p:nvSpPr>
          <p:cNvPr id="244" name="Google Shape;244;p37"/>
          <p:cNvSpPr txBox="1"/>
          <p:nvPr>
            <p:ph type="title"/>
          </p:nvPr>
        </p:nvSpPr>
        <p:spPr>
          <a:xfrm>
            <a:off x="553500" y="252350"/>
            <a:ext cx="8037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Data-Driven Analysis</a:t>
            </a:r>
            <a:endParaRPr/>
          </a:p>
        </p:txBody>
      </p:sp>
      <p:sp>
        <p:nvSpPr>
          <p:cNvPr id="245" name="Google Shape;245;p37"/>
          <p:cNvSpPr txBox="1"/>
          <p:nvPr/>
        </p:nvSpPr>
        <p:spPr>
          <a:xfrm>
            <a:off x="1214713" y="1144150"/>
            <a:ext cx="2522700" cy="467700"/>
          </a:xfrm>
          <a:prstGeom prst="rect">
            <a:avLst/>
          </a:prstGeom>
          <a:noFill/>
          <a:ln cap="flat" cmpd="sng" w="38100">
            <a:solidFill>
              <a:srgbClr val="99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2"/>
                </a:solidFill>
              </a:rPr>
              <a:t>Relational Databases</a:t>
            </a:r>
            <a:endParaRPr b="1" sz="1800">
              <a:solidFill>
                <a:schemeClr val="dk2"/>
              </a:solidFill>
            </a:endParaRPr>
          </a:p>
        </p:txBody>
      </p:sp>
      <p:sp>
        <p:nvSpPr>
          <p:cNvPr id="246" name="Google Shape;246;p37"/>
          <p:cNvSpPr txBox="1"/>
          <p:nvPr/>
        </p:nvSpPr>
        <p:spPr>
          <a:xfrm>
            <a:off x="6505438" y="1144150"/>
            <a:ext cx="1271700" cy="467700"/>
          </a:xfrm>
          <a:prstGeom prst="rect">
            <a:avLst/>
          </a:prstGeom>
          <a:noFill/>
          <a:ln cap="flat" cmpd="sng" w="38100">
            <a:solidFill>
              <a:srgbClr val="99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2"/>
                </a:solidFill>
              </a:rPr>
              <a:t>ML Model</a:t>
            </a:r>
            <a:endParaRPr b="1" sz="1800">
              <a:solidFill>
                <a:schemeClr val="dk2"/>
              </a:solidFill>
            </a:endParaRPr>
          </a:p>
        </p:txBody>
      </p:sp>
      <p:pic>
        <p:nvPicPr>
          <p:cNvPr id="247" name="Google Shape;247;p37"/>
          <p:cNvPicPr preferRelativeResize="0"/>
          <p:nvPr/>
        </p:nvPicPr>
        <p:blipFill>
          <a:blip r:embed="rId3">
            <a:alphaModFix/>
          </a:blip>
          <a:stretch>
            <a:fillRect/>
          </a:stretch>
        </p:blipFill>
        <p:spPr>
          <a:xfrm>
            <a:off x="676375" y="1767825"/>
            <a:ext cx="3599375" cy="2656900"/>
          </a:xfrm>
          <a:prstGeom prst="rect">
            <a:avLst/>
          </a:prstGeom>
          <a:noFill/>
          <a:ln>
            <a:noFill/>
          </a:ln>
        </p:spPr>
      </p:pic>
      <p:pic>
        <p:nvPicPr>
          <p:cNvPr id="248" name="Google Shape;248;p37"/>
          <p:cNvPicPr preferRelativeResize="0"/>
          <p:nvPr/>
        </p:nvPicPr>
        <p:blipFill>
          <a:blip r:embed="rId4">
            <a:alphaModFix/>
          </a:blip>
          <a:stretch>
            <a:fillRect/>
          </a:stretch>
        </p:blipFill>
        <p:spPr>
          <a:xfrm>
            <a:off x="5341600" y="1810552"/>
            <a:ext cx="3599375" cy="2696031"/>
          </a:xfrm>
          <a:prstGeom prst="rect">
            <a:avLst/>
          </a:prstGeom>
          <a:noFill/>
          <a:ln>
            <a:noFill/>
          </a:ln>
        </p:spPr>
      </p:pic>
      <p:sp>
        <p:nvSpPr>
          <p:cNvPr id="249" name="Google Shape;249;p37"/>
          <p:cNvSpPr txBox="1"/>
          <p:nvPr/>
        </p:nvSpPr>
        <p:spPr>
          <a:xfrm>
            <a:off x="6189688" y="1930950"/>
            <a:ext cx="1903200" cy="23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45818E"/>
                </a:solidFill>
              </a:rPr>
              <a:t>Random Forest</a:t>
            </a:r>
            <a:endParaRPr b="1" sz="1800">
              <a:solidFill>
                <a:srgbClr val="45818E"/>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8"/>
          <p:cNvSpPr txBox="1"/>
          <p:nvPr/>
        </p:nvSpPr>
        <p:spPr>
          <a:xfrm>
            <a:off x="3475638" y="326588"/>
            <a:ext cx="2705100" cy="467700"/>
          </a:xfrm>
          <a:prstGeom prst="rect">
            <a:avLst/>
          </a:prstGeom>
          <a:noFill/>
          <a:ln cap="flat" cmpd="sng" w="38100">
            <a:solidFill>
              <a:srgbClr val="99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2"/>
                </a:solidFill>
              </a:rPr>
              <a:t>Interactive Dashboard</a:t>
            </a:r>
            <a:endParaRPr b="1" sz="1800">
              <a:solidFill>
                <a:schemeClr val="dk2"/>
              </a:solidFill>
            </a:endParaRPr>
          </a:p>
        </p:txBody>
      </p:sp>
      <p:pic>
        <p:nvPicPr>
          <p:cNvPr id="255" name="Google Shape;255;p38"/>
          <p:cNvPicPr preferRelativeResize="0"/>
          <p:nvPr/>
        </p:nvPicPr>
        <p:blipFill>
          <a:blip r:embed="rId3">
            <a:alphaModFix/>
          </a:blip>
          <a:stretch>
            <a:fillRect/>
          </a:stretch>
        </p:blipFill>
        <p:spPr>
          <a:xfrm>
            <a:off x="643800" y="925050"/>
            <a:ext cx="8368775" cy="3624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9"/>
          <p:cNvSpPr txBox="1"/>
          <p:nvPr>
            <p:ph type="title"/>
          </p:nvPr>
        </p:nvSpPr>
        <p:spPr>
          <a:xfrm>
            <a:off x="553500" y="232725"/>
            <a:ext cx="8037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Case Study Takeaways</a:t>
            </a:r>
            <a:endParaRPr/>
          </a:p>
        </p:txBody>
      </p:sp>
      <p:grpSp>
        <p:nvGrpSpPr>
          <p:cNvPr id="261" name="Google Shape;261;p39"/>
          <p:cNvGrpSpPr/>
          <p:nvPr/>
        </p:nvGrpSpPr>
        <p:grpSpPr>
          <a:xfrm>
            <a:off x="1299544" y="3370818"/>
            <a:ext cx="6768855" cy="1081144"/>
            <a:chOff x="1593000" y="2322568"/>
            <a:chExt cx="5957975" cy="643500"/>
          </a:xfrm>
        </p:grpSpPr>
        <p:sp>
          <p:nvSpPr>
            <p:cNvPr id="262" name="Google Shape;262;p39"/>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9"/>
            <p:cNvSpPr/>
            <p:nvPr/>
          </p:nvSpPr>
          <p:spPr>
            <a:xfrm flipH="1">
              <a:off x="2283025" y="2322575"/>
              <a:ext cx="1844400" cy="642600"/>
            </a:xfrm>
            <a:prstGeom prst="rect">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9"/>
            <p:cNvSpPr/>
            <p:nvPr/>
          </p:nvSpPr>
          <p:spPr>
            <a:xfrm rot="-5400000">
              <a:off x="3501574" y="1934671"/>
              <a:ext cx="643356" cy="1419149"/>
            </a:xfrm>
            <a:prstGeom prst="flowChartOffpageConnector">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9"/>
            <p:cNvSpPr/>
            <p:nvPr/>
          </p:nvSpPr>
          <p:spPr>
            <a:xfrm>
              <a:off x="2312870" y="2396950"/>
              <a:ext cx="2045100" cy="49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3000">
                  <a:solidFill>
                    <a:srgbClr val="FFFFFF"/>
                  </a:solidFill>
                  <a:latin typeface="Roboto"/>
                  <a:ea typeface="Roboto"/>
                  <a:cs typeface="Roboto"/>
                  <a:sym typeface="Roboto"/>
                </a:rPr>
                <a:t>Python (ML)</a:t>
              </a:r>
              <a:endParaRPr b="1" sz="3000">
                <a:solidFill>
                  <a:srgbClr val="FFFFFF"/>
                </a:solidFill>
                <a:latin typeface="Roboto"/>
                <a:ea typeface="Roboto"/>
                <a:cs typeface="Roboto"/>
                <a:sym typeface="Roboto"/>
              </a:endParaRPr>
            </a:p>
          </p:txBody>
        </p:sp>
        <p:sp>
          <p:nvSpPr>
            <p:cNvPr id="266" name="Google Shape;266;p39"/>
            <p:cNvSpPr/>
            <p:nvPr/>
          </p:nvSpPr>
          <p:spPr>
            <a:xfrm>
              <a:off x="1593000" y="2322568"/>
              <a:ext cx="690000" cy="642300"/>
            </a:xfrm>
            <a:prstGeom prst="rect">
              <a:avLst/>
            </a:prstGeom>
            <a:solidFill>
              <a:srgbClr val="771E86"/>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9"/>
            <p:cNvSpPr/>
            <p:nvPr/>
          </p:nvSpPr>
          <p:spPr>
            <a:xfrm>
              <a:off x="1593000" y="2322575"/>
              <a:ext cx="690000" cy="642600"/>
            </a:xfrm>
            <a:prstGeom prst="rect">
              <a:avLst/>
            </a:prstGeom>
            <a:solidFill>
              <a:srgbClr val="80209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600">
                <a:solidFill>
                  <a:srgbClr val="FFFFFF"/>
                </a:solidFill>
                <a:latin typeface="Roboto Thin"/>
                <a:ea typeface="Roboto Thin"/>
                <a:cs typeface="Roboto Thin"/>
                <a:sym typeface="Roboto Thin"/>
              </a:endParaRPr>
            </a:p>
          </p:txBody>
        </p:sp>
        <p:sp>
          <p:nvSpPr>
            <p:cNvPr id="268" name="Google Shape;268;p39"/>
            <p:cNvSpPr/>
            <p:nvPr/>
          </p:nvSpPr>
          <p:spPr>
            <a:xfrm>
              <a:off x="4521993" y="2323750"/>
              <a:ext cx="2971200" cy="642300"/>
            </a:xfrm>
            <a:prstGeom prst="rect">
              <a:avLst/>
            </a:prstGeom>
            <a:noFill/>
            <a:ln>
              <a:noFill/>
            </a:ln>
          </p:spPr>
          <p:txBody>
            <a:bodyPr anchorCtr="0" anchor="ctr" bIns="91425" lIns="91425" spcFirstLastPara="1" rIns="91425" wrap="square" tIns="91425">
              <a:noAutofit/>
            </a:bodyPr>
            <a:lstStyle/>
            <a:p>
              <a:pPr indent="-323850" lvl="0" marL="457200" rtl="0" algn="l">
                <a:lnSpc>
                  <a:spcPct val="115000"/>
                </a:lnSpc>
                <a:spcBef>
                  <a:spcPts val="0"/>
                </a:spcBef>
                <a:spcAft>
                  <a:spcPts val="0"/>
                </a:spcAft>
                <a:buClr>
                  <a:srgbClr val="701C7F"/>
                </a:buClr>
                <a:buSzPts val="1500"/>
                <a:buFont typeface="Roboto"/>
                <a:buChar char="●"/>
              </a:pPr>
              <a:r>
                <a:rPr lang="en" sz="1500">
                  <a:solidFill>
                    <a:srgbClr val="701C7F"/>
                  </a:solidFill>
                  <a:latin typeface="Roboto"/>
                  <a:ea typeface="Roboto"/>
                  <a:cs typeface="Roboto"/>
                  <a:sym typeface="Roboto"/>
                </a:rPr>
                <a:t>Predictive insights</a:t>
              </a:r>
              <a:endParaRPr sz="1500">
                <a:solidFill>
                  <a:srgbClr val="701C7F"/>
                </a:solidFill>
                <a:latin typeface="Roboto"/>
                <a:ea typeface="Roboto"/>
                <a:cs typeface="Roboto"/>
                <a:sym typeface="Roboto"/>
              </a:endParaRPr>
            </a:p>
            <a:p>
              <a:pPr indent="-323850" lvl="0" marL="457200" rtl="0" algn="l">
                <a:lnSpc>
                  <a:spcPct val="115000"/>
                </a:lnSpc>
                <a:spcBef>
                  <a:spcPts val="0"/>
                </a:spcBef>
                <a:spcAft>
                  <a:spcPts val="0"/>
                </a:spcAft>
                <a:buClr>
                  <a:srgbClr val="701C7F"/>
                </a:buClr>
                <a:buSzPts val="1500"/>
                <a:buFont typeface="Roboto"/>
                <a:buChar char="●"/>
              </a:pPr>
              <a:r>
                <a:rPr lang="en" sz="1500">
                  <a:solidFill>
                    <a:srgbClr val="701C7F"/>
                  </a:solidFill>
                  <a:latin typeface="Roboto"/>
                  <a:ea typeface="Roboto"/>
                  <a:cs typeface="Roboto"/>
                  <a:sym typeface="Roboto"/>
                </a:rPr>
                <a:t>Automate analytics</a:t>
              </a:r>
              <a:endParaRPr sz="1500">
                <a:solidFill>
                  <a:srgbClr val="701C7F"/>
                </a:solidFill>
                <a:latin typeface="Roboto"/>
                <a:ea typeface="Roboto"/>
                <a:cs typeface="Roboto"/>
                <a:sym typeface="Roboto"/>
              </a:endParaRPr>
            </a:p>
          </p:txBody>
        </p:sp>
      </p:grpSp>
      <p:grpSp>
        <p:nvGrpSpPr>
          <p:cNvPr id="269" name="Google Shape;269;p39"/>
          <p:cNvGrpSpPr/>
          <p:nvPr/>
        </p:nvGrpSpPr>
        <p:grpSpPr>
          <a:xfrm>
            <a:off x="1299544" y="2270153"/>
            <a:ext cx="6768855" cy="1081144"/>
            <a:chOff x="1593000" y="2322568"/>
            <a:chExt cx="5957975" cy="643500"/>
          </a:xfrm>
        </p:grpSpPr>
        <p:sp>
          <p:nvSpPr>
            <p:cNvPr id="270" name="Google Shape;270;p39"/>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9"/>
            <p:cNvSpPr/>
            <p:nvPr/>
          </p:nvSpPr>
          <p:spPr>
            <a:xfrm flipH="1">
              <a:off x="2283025" y="2322575"/>
              <a:ext cx="1844400" cy="642600"/>
            </a:xfrm>
            <a:prstGeom prst="rect">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9"/>
            <p:cNvSpPr/>
            <p:nvPr/>
          </p:nvSpPr>
          <p:spPr>
            <a:xfrm rot="-5400000">
              <a:off x="3501574" y="1934671"/>
              <a:ext cx="643356" cy="1419149"/>
            </a:xfrm>
            <a:prstGeom prst="flowChartOffpageConnector">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9"/>
            <p:cNvSpPr/>
            <p:nvPr/>
          </p:nvSpPr>
          <p:spPr>
            <a:xfrm>
              <a:off x="2348435" y="2396365"/>
              <a:ext cx="1940700" cy="49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3000">
                  <a:solidFill>
                    <a:srgbClr val="FFFFFF"/>
                  </a:solidFill>
                  <a:latin typeface="Roboto"/>
                  <a:ea typeface="Roboto"/>
                  <a:cs typeface="Roboto"/>
                  <a:sym typeface="Roboto"/>
                </a:rPr>
                <a:t>Excel</a:t>
              </a:r>
              <a:endParaRPr b="1" sz="3000">
                <a:solidFill>
                  <a:srgbClr val="FFFFFF"/>
                </a:solidFill>
                <a:latin typeface="Roboto"/>
                <a:ea typeface="Roboto"/>
                <a:cs typeface="Roboto"/>
                <a:sym typeface="Roboto"/>
              </a:endParaRPr>
            </a:p>
          </p:txBody>
        </p:sp>
        <p:sp>
          <p:nvSpPr>
            <p:cNvPr id="274" name="Google Shape;274;p39"/>
            <p:cNvSpPr/>
            <p:nvPr/>
          </p:nvSpPr>
          <p:spPr>
            <a:xfrm>
              <a:off x="1593000" y="2322568"/>
              <a:ext cx="690000" cy="642300"/>
            </a:xfrm>
            <a:prstGeom prst="rect">
              <a:avLst/>
            </a:prstGeom>
            <a:solidFill>
              <a:srgbClr val="771E86"/>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9"/>
            <p:cNvSpPr/>
            <p:nvPr/>
          </p:nvSpPr>
          <p:spPr>
            <a:xfrm>
              <a:off x="1593000" y="2322575"/>
              <a:ext cx="690000" cy="642600"/>
            </a:xfrm>
            <a:prstGeom prst="rect">
              <a:avLst/>
            </a:prstGeom>
            <a:solidFill>
              <a:srgbClr val="80209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600">
                <a:solidFill>
                  <a:srgbClr val="FFFFFF"/>
                </a:solidFill>
                <a:latin typeface="Roboto Thin"/>
                <a:ea typeface="Roboto Thin"/>
                <a:cs typeface="Roboto Thin"/>
                <a:sym typeface="Roboto Thin"/>
              </a:endParaRPr>
            </a:p>
          </p:txBody>
        </p:sp>
        <p:sp>
          <p:nvSpPr>
            <p:cNvPr id="276" name="Google Shape;276;p39"/>
            <p:cNvSpPr/>
            <p:nvPr/>
          </p:nvSpPr>
          <p:spPr>
            <a:xfrm>
              <a:off x="4521993" y="2323750"/>
              <a:ext cx="2971200" cy="642300"/>
            </a:xfrm>
            <a:prstGeom prst="rect">
              <a:avLst/>
            </a:prstGeom>
            <a:noFill/>
            <a:ln>
              <a:noFill/>
            </a:ln>
          </p:spPr>
          <p:txBody>
            <a:bodyPr anchorCtr="0" anchor="ctr" bIns="91425" lIns="91425" spcFirstLastPara="1" rIns="91425" wrap="square" tIns="91425">
              <a:noAutofit/>
            </a:bodyPr>
            <a:lstStyle/>
            <a:p>
              <a:pPr indent="-323850" lvl="0" marL="457200" rtl="0" algn="l">
                <a:lnSpc>
                  <a:spcPct val="115000"/>
                </a:lnSpc>
                <a:spcBef>
                  <a:spcPts val="0"/>
                </a:spcBef>
                <a:spcAft>
                  <a:spcPts val="0"/>
                </a:spcAft>
                <a:buClr>
                  <a:srgbClr val="701C7F"/>
                </a:buClr>
                <a:buSzPts val="1500"/>
                <a:buFont typeface="Roboto"/>
                <a:buChar char="●"/>
              </a:pPr>
              <a:r>
                <a:rPr lang="en" sz="1500">
                  <a:solidFill>
                    <a:srgbClr val="701C7F"/>
                  </a:solidFill>
                  <a:latin typeface="Roboto"/>
                  <a:ea typeface="Roboto"/>
                  <a:cs typeface="Roboto"/>
                  <a:sym typeface="Roboto"/>
                </a:rPr>
                <a:t>Easy to use</a:t>
              </a:r>
              <a:endParaRPr sz="1500">
                <a:solidFill>
                  <a:srgbClr val="701C7F"/>
                </a:solidFill>
                <a:latin typeface="Roboto"/>
                <a:ea typeface="Roboto"/>
                <a:cs typeface="Roboto"/>
                <a:sym typeface="Roboto"/>
              </a:endParaRPr>
            </a:p>
            <a:p>
              <a:pPr indent="-323850" lvl="0" marL="457200" rtl="0" algn="l">
                <a:lnSpc>
                  <a:spcPct val="115000"/>
                </a:lnSpc>
                <a:spcBef>
                  <a:spcPts val="0"/>
                </a:spcBef>
                <a:spcAft>
                  <a:spcPts val="0"/>
                </a:spcAft>
                <a:buClr>
                  <a:srgbClr val="701C7F"/>
                </a:buClr>
                <a:buSzPts val="1500"/>
                <a:buFont typeface="Roboto"/>
                <a:buChar char="●"/>
              </a:pPr>
              <a:r>
                <a:rPr lang="en" sz="1500">
                  <a:solidFill>
                    <a:srgbClr val="701C7F"/>
                  </a:solidFill>
                  <a:latin typeface="Roboto"/>
                  <a:ea typeface="Roboto"/>
                  <a:cs typeface="Roboto"/>
                  <a:sym typeface="Roboto"/>
                </a:rPr>
                <a:t>Data organization and visualization</a:t>
              </a:r>
              <a:endParaRPr sz="1500">
                <a:solidFill>
                  <a:srgbClr val="701C7F"/>
                </a:solidFill>
                <a:latin typeface="Roboto"/>
                <a:ea typeface="Roboto"/>
                <a:cs typeface="Roboto"/>
                <a:sym typeface="Roboto"/>
              </a:endParaRPr>
            </a:p>
          </p:txBody>
        </p:sp>
      </p:grpSp>
      <p:grpSp>
        <p:nvGrpSpPr>
          <p:cNvPr id="277" name="Google Shape;277;p39"/>
          <p:cNvGrpSpPr/>
          <p:nvPr/>
        </p:nvGrpSpPr>
        <p:grpSpPr>
          <a:xfrm>
            <a:off x="1299544" y="1169473"/>
            <a:ext cx="6768855" cy="1081144"/>
            <a:chOff x="1593000" y="2322568"/>
            <a:chExt cx="5957975" cy="643500"/>
          </a:xfrm>
        </p:grpSpPr>
        <p:sp>
          <p:nvSpPr>
            <p:cNvPr id="278" name="Google Shape;278;p39"/>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9"/>
            <p:cNvSpPr/>
            <p:nvPr/>
          </p:nvSpPr>
          <p:spPr>
            <a:xfrm flipH="1">
              <a:off x="2283025" y="2322575"/>
              <a:ext cx="1844400" cy="642600"/>
            </a:xfrm>
            <a:prstGeom prst="rect">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9"/>
            <p:cNvSpPr/>
            <p:nvPr/>
          </p:nvSpPr>
          <p:spPr>
            <a:xfrm rot="-5400000">
              <a:off x="3501574" y="1934671"/>
              <a:ext cx="643356" cy="1419149"/>
            </a:xfrm>
            <a:prstGeom prst="flowChartOffpageConnector">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9"/>
            <p:cNvSpPr/>
            <p:nvPr/>
          </p:nvSpPr>
          <p:spPr>
            <a:xfrm>
              <a:off x="2348424" y="2422844"/>
              <a:ext cx="1940700" cy="49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3000">
                  <a:solidFill>
                    <a:srgbClr val="FFFFFF"/>
                  </a:solidFill>
                  <a:latin typeface="Roboto"/>
                  <a:ea typeface="Roboto"/>
                  <a:cs typeface="Roboto"/>
                  <a:sym typeface="Roboto"/>
                </a:rPr>
                <a:t>MySQL</a:t>
              </a:r>
              <a:endParaRPr b="1" sz="3000">
                <a:solidFill>
                  <a:srgbClr val="FFFFFF"/>
                </a:solidFill>
                <a:latin typeface="Roboto"/>
                <a:ea typeface="Roboto"/>
                <a:cs typeface="Roboto"/>
                <a:sym typeface="Roboto"/>
              </a:endParaRPr>
            </a:p>
          </p:txBody>
        </p:sp>
        <p:sp>
          <p:nvSpPr>
            <p:cNvPr id="282" name="Google Shape;282;p39"/>
            <p:cNvSpPr/>
            <p:nvPr/>
          </p:nvSpPr>
          <p:spPr>
            <a:xfrm>
              <a:off x="1593000" y="2322568"/>
              <a:ext cx="690000" cy="642300"/>
            </a:xfrm>
            <a:prstGeom prst="rect">
              <a:avLst/>
            </a:prstGeom>
            <a:solidFill>
              <a:srgbClr val="771E86"/>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9"/>
            <p:cNvSpPr/>
            <p:nvPr/>
          </p:nvSpPr>
          <p:spPr>
            <a:xfrm>
              <a:off x="1593000" y="2322575"/>
              <a:ext cx="690000" cy="642600"/>
            </a:xfrm>
            <a:prstGeom prst="rect">
              <a:avLst/>
            </a:prstGeom>
            <a:solidFill>
              <a:srgbClr val="80209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600">
                <a:solidFill>
                  <a:srgbClr val="FFFFFF"/>
                </a:solidFill>
                <a:latin typeface="Roboto Thin"/>
                <a:ea typeface="Roboto Thin"/>
                <a:cs typeface="Roboto Thin"/>
                <a:sym typeface="Roboto Thin"/>
              </a:endParaRPr>
            </a:p>
          </p:txBody>
        </p:sp>
        <p:sp>
          <p:nvSpPr>
            <p:cNvPr id="284" name="Google Shape;284;p39"/>
            <p:cNvSpPr/>
            <p:nvPr/>
          </p:nvSpPr>
          <p:spPr>
            <a:xfrm>
              <a:off x="4521993" y="2323750"/>
              <a:ext cx="2971200" cy="642300"/>
            </a:xfrm>
            <a:prstGeom prst="rect">
              <a:avLst/>
            </a:prstGeom>
            <a:noFill/>
            <a:ln>
              <a:noFill/>
            </a:ln>
          </p:spPr>
          <p:txBody>
            <a:bodyPr anchorCtr="0" anchor="ctr" bIns="91425" lIns="91425" spcFirstLastPara="1" rIns="91425" wrap="square" tIns="91425">
              <a:noAutofit/>
            </a:bodyPr>
            <a:lstStyle/>
            <a:p>
              <a:pPr indent="-323850" lvl="0" marL="457200" rtl="0" algn="l">
                <a:lnSpc>
                  <a:spcPct val="115000"/>
                </a:lnSpc>
                <a:spcBef>
                  <a:spcPts val="0"/>
                </a:spcBef>
                <a:spcAft>
                  <a:spcPts val="0"/>
                </a:spcAft>
                <a:buClr>
                  <a:srgbClr val="701C7F"/>
                </a:buClr>
                <a:buSzPts val="1500"/>
                <a:buFont typeface="Roboto"/>
                <a:buChar char="●"/>
              </a:pPr>
              <a:r>
                <a:rPr lang="en" sz="1500">
                  <a:solidFill>
                    <a:srgbClr val="701C7F"/>
                  </a:solidFill>
                  <a:latin typeface="Roboto"/>
                  <a:ea typeface="Roboto"/>
                  <a:cs typeface="Roboto"/>
                  <a:sym typeface="Roboto"/>
                </a:rPr>
                <a:t>Better for larger data sets</a:t>
              </a:r>
              <a:endParaRPr sz="1500">
                <a:solidFill>
                  <a:srgbClr val="701C7F"/>
                </a:solidFill>
                <a:latin typeface="Roboto"/>
                <a:ea typeface="Roboto"/>
                <a:cs typeface="Roboto"/>
                <a:sym typeface="Roboto"/>
              </a:endParaRPr>
            </a:p>
            <a:p>
              <a:pPr indent="-323850" lvl="0" marL="457200" rtl="0" algn="l">
                <a:lnSpc>
                  <a:spcPct val="115000"/>
                </a:lnSpc>
                <a:spcBef>
                  <a:spcPts val="0"/>
                </a:spcBef>
                <a:spcAft>
                  <a:spcPts val="0"/>
                </a:spcAft>
                <a:buClr>
                  <a:srgbClr val="701C7F"/>
                </a:buClr>
                <a:buSzPts val="1500"/>
                <a:buFont typeface="Roboto"/>
                <a:buChar char="●"/>
              </a:pPr>
              <a:r>
                <a:rPr lang="en" sz="1500">
                  <a:solidFill>
                    <a:srgbClr val="701C7F"/>
                  </a:solidFill>
                  <a:latin typeface="Roboto"/>
                  <a:ea typeface="Roboto"/>
                  <a:cs typeface="Roboto"/>
                  <a:sym typeface="Roboto"/>
                </a:rPr>
                <a:t>Data extraction and querying</a:t>
              </a:r>
              <a:endParaRPr sz="1500">
                <a:solidFill>
                  <a:srgbClr val="701C7F"/>
                </a:solidFill>
                <a:latin typeface="Roboto"/>
                <a:ea typeface="Roboto"/>
                <a:cs typeface="Roboto"/>
                <a:sym typeface="Roboto"/>
              </a:endParaRPr>
            </a:p>
          </p:txBody>
        </p:sp>
      </p:grpSp>
      <p:pic>
        <p:nvPicPr>
          <p:cNvPr id="285" name="Google Shape;285;p39"/>
          <p:cNvPicPr preferRelativeResize="0"/>
          <p:nvPr/>
        </p:nvPicPr>
        <p:blipFill>
          <a:blip r:embed="rId3">
            <a:alphaModFix/>
          </a:blip>
          <a:stretch>
            <a:fillRect/>
          </a:stretch>
        </p:blipFill>
        <p:spPr>
          <a:xfrm>
            <a:off x="1375310" y="1477527"/>
            <a:ext cx="670315" cy="464928"/>
          </a:xfrm>
          <a:prstGeom prst="rect">
            <a:avLst/>
          </a:prstGeom>
          <a:noFill/>
          <a:ln>
            <a:noFill/>
          </a:ln>
        </p:spPr>
      </p:pic>
      <p:pic>
        <p:nvPicPr>
          <p:cNvPr id="286" name="Google Shape;286;p39"/>
          <p:cNvPicPr preferRelativeResize="0"/>
          <p:nvPr/>
        </p:nvPicPr>
        <p:blipFill rotWithShape="1">
          <a:blip r:embed="rId4">
            <a:alphaModFix/>
          </a:blip>
          <a:srcRect b="23848" l="34377" r="33969" t="23553"/>
          <a:stretch/>
        </p:blipFill>
        <p:spPr>
          <a:xfrm>
            <a:off x="1375308" y="2517410"/>
            <a:ext cx="670315" cy="586500"/>
          </a:xfrm>
          <a:prstGeom prst="rect">
            <a:avLst/>
          </a:prstGeom>
          <a:noFill/>
          <a:ln>
            <a:noFill/>
          </a:ln>
        </p:spPr>
      </p:pic>
      <p:pic>
        <p:nvPicPr>
          <p:cNvPr id="287" name="Google Shape;287;p39"/>
          <p:cNvPicPr preferRelativeResize="0"/>
          <p:nvPr/>
        </p:nvPicPr>
        <p:blipFill rotWithShape="1">
          <a:blip r:embed="rId5">
            <a:alphaModFix/>
          </a:blip>
          <a:srcRect b="0" l="20572" r="19554" t="0"/>
          <a:stretch/>
        </p:blipFill>
        <p:spPr>
          <a:xfrm>
            <a:off x="1375310" y="3597402"/>
            <a:ext cx="670315" cy="62785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1" name="Shape 291"/>
        <p:cNvGrpSpPr/>
        <p:nvPr/>
      </p:nvGrpSpPr>
      <p:grpSpPr>
        <a:xfrm>
          <a:off x="0" y="0"/>
          <a:ext cx="0" cy="0"/>
          <a:chOff x="0" y="0"/>
          <a:chExt cx="0" cy="0"/>
        </a:xfrm>
      </p:grpSpPr>
      <p:pic>
        <p:nvPicPr>
          <p:cNvPr id="292" name="Google Shape;292;p40"/>
          <p:cNvPicPr preferRelativeResize="0"/>
          <p:nvPr/>
        </p:nvPicPr>
        <p:blipFill>
          <a:blip r:embed="rId4">
            <a:alphaModFix/>
          </a:blip>
          <a:stretch>
            <a:fillRect/>
          </a:stretch>
        </p:blipFill>
        <p:spPr>
          <a:xfrm>
            <a:off x="1325250" y="1440550"/>
            <a:ext cx="726325" cy="726325"/>
          </a:xfrm>
          <a:prstGeom prst="rect">
            <a:avLst/>
          </a:prstGeom>
          <a:noFill/>
          <a:ln>
            <a:noFill/>
          </a:ln>
        </p:spPr>
      </p:pic>
      <p:pic>
        <p:nvPicPr>
          <p:cNvPr id="293" name="Google Shape;293;p40"/>
          <p:cNvPicPr preferRelativeResize="0"/>
          <p:nvPr/>
        </p:nvPicPr>
        <p:blipFill>
          <a:blip r:embed="rId5">
            <a:alphaModFix/>
          </a:blip>
          <a:stretch>
            <a:fillRect/>
          </a:stretch>
        </p:blipFill>
        <p:spPr>
          <a:xfrm>
            <a:off x="5614175" y="993702"/>
            <a:ext cx="2692026" cy="3546352"/>
          </a:xfrm>
          <a:prstGeom prst="rect">
            <a:avLst/>
          </a:prstGeom>
          <a:noFill/>
          <a:ln cap="flat" cmpd="sng" w="9525">
            <a:solidFill>
              <a:srgbClr val="000000"/>
            </a:solidFill>
            <a:prstDash val="solid"/>
            <a:round/>
            <a:headEnd len="sm" w="sm" type="none"/>
            <a:tailEnd len="sm" w="sm" type="none"/>
          </a:ln>
        </p:spPr>
      </p:pic>
      <p:sp>
        <p:nvSpPr>
          <p:cNvPr id="294" name="Google Shape;294;p40"/>
          <p:cNvSpPr/>
          <p:nvPr/>
        </p:nvSpPr>
        <p:spPr>
          <a:xfrm>
            <a:off x="1983675" y="1289125"/>
            <a:ext cx="2891700" cy="461700"/>
          </a:xfrm>
          <a:prstGeom prst="roundRect">
            <a:avLst>
              <a:gd fmla="val 16667" name="adj"/>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191919"/>
                </a:solidFill>
              </a:rPr>
              <a:t>Design</a:t>
            </a:r>
            <a:endParaRPr b="1"/>
          </a:p>
        </p:txBody>
      </p:sp>
      <p:sp>
        <p:nvSpPr>
          <p:cNvPr id="295" name="Google Shape;295;p40"/>
          <p:cNvSpPr/>
          <p:nvPr/>
        </p:nvSpPr>
        <p:spPr>
          <a:xfrm>
            <a:off x="1983675" y="2536025"/>
            <a:ext cx="2891700" cy="461700"/>
          </a:xfrm>
          <a:prstGeom prst="roundRect">
            <a:avLst>
              <a:gd fmla="val 16667" name="adj"/>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191919"/>
                </a:solidFill>
              </a:rPr>
              <a:t>Launch</a:t>
            </a:r>
            <a:endParaRPr b="1" sz="1800">
              <a:solidFill>
                <a:srgbClr val="191919"/>
              </a:solidFill>
            </a:endParaRPr>
          </a:p>
        </p:txBody>
      </p:sp>
      <p:sp>
        <p:nvSpPr>
          <p:cNvPr id="296" name="Google Shape;296;p40"/>
          <p:cNvSpPr/>
          <p:nvPr/>
        </p:nvSpPr>
        <p:spPr>
          <a:xfrm>
            <a:off x="1983675" y="3782925"/>
            <a:ext cx="2891700" cy="461700"/>
          </a:xfrm>
          <a:prstGeom prst="roundRect">
            <a:avLst>
              <a:gd fmla="val 16667" name="adj"/>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191919"/>
                </a:solidFill>
              </a:rPr>
              <a:t>Measure</a:t>
            </a:r>
            <a:endParaRPr b="1" sz="1800"/>
          </a:p>
        </p:txBody>
      </p:sp>
      <p:sp>
        <p:nvSpPr>
          <p:cNvPr id="297" name="Google Shape;297;p40"/>
          <p:cNvSpPr txBox="1"/>
          <p:nvPr/>
        </p:nvSpPr>
        <p:spPr>
          <a:xfrm>
            <a:off x="332250" y="77175"/>
            <a:ext cx="8479500" cy="974100"/>
          </a:xfrm>
          <a:prstGeom prst="rect">
            <a:avLst/>
          </a:prstGeom>
          <a:noFill/>
          <a:ln>
            <a:noFill/>
          </a:ln>
        </p:spPr>
        <p:txBody>
          <a:bodyPr anchorCtr="0" anchor="b" bIns="182850" lIns="182850" spcFirstLastPara="1" rIns="182850" wrap="square" tIns="182850">
            <a:noAutofit/>
          </a:bodyPr>
          <a:lstStyle/>
          <a:p>
            <a:pPr indent="0" lvl="0" marL="0" rtl="0" algn="ctr">
              <a:spcBef>
                <a:spcPts val="0"/>
              </a:spcBef>
              <a:spcAft>
                <a:spcPts val="0"/>
              </a:spcAft>
              <a:buNone/>
            </a:pPr>
            <a:r>
              <a:rPr b="1" lang="en" sz="3600">
                <a:latin typeface="Century Gothic"/>
                <a:ea typeface="Century Gothic"/>
                <a:cs typeface="Century Gothic"/>
                <a:sym typeface="Century Gothic"/>
              </a:rPr>
              <a:t>Results</a:t>
            </a:r>
            <a:endParaRPr b="1" sz="3600">
              <a:solidFill>
                <a:srgbClr val="000000"/>
              </a:solidFill>
              <a:latin typeface="Century Gothic"/>
              <a:ea typeface="Century Gothic"/>
              <a:cs typeface="Century Gothic"/>
              <a:sym typeface="Century Gothic"/>
            </a:endParaRPr>
          </a:p>
        </p:txBody>
      </p:sp>
      <p:cxnSp>
        <p:nvCxnSpPr>
          <p:cNvPr id="298" name="Google Shape;298;p40"/>
          <p:cNvCxnSpPr/>
          <p:nvPr/>
        </p:nvCxnSpPr>
        <p:spPr>
          <a:xfrm>
            <a:off x="3429525" y="1852875"/>
            <a:ext cx="0" cy="581100"/>
          </a:xfrm>
          <a:prstGeom prst="straightConnector1">
            <a:avLst/>
          </a:prstGeom>
          <a:noFill/>
          <a:ln cap="flat" cmpd="sng" w="19050">
            <a:solidFill>
              <a:srgbClr val="000000"/>
            </a:solidFill>
            <a:prstDash val="solid"/>
            <a:round/>
            <a:headEnd len="med" w="med" type="none"/>
            <a:tailEnd len="med" w="med" type="triangle"/>
          </a:ln>
        </p:spPr>
      </p:cxnSp>
      <p:cxnSp>
        <p:nvCxnSpPr>
          <p:cNvPr id="299" name="Google Shape;299;p40"/>
          <p:cNvCxnSpPr/>
          <p:nvPr/>
        </p:nvCxnSpPr>
        <p:spPr>
          <a:xfrm>
            <a:off x="3429525" y="3099763"/>
            <a:ext cx="0" cy="581100"/>
          </a:xfrm>
          <a:prstGeom prst="straightConnector1">
            <a:avLst/>
          </a:prstGeom>
          <a:noFill/>
          <a:ln cap="flat" cmpd="sng" w="19050">
            <a:solidFill>
              <a:srgbClr val="000000"/>
            </a:solidFill>
            <a:prstDash val="dash"/>
            <a:round/>
            <a:headEnd len="med" w="med" type="none"/>
            <a:tailEnd len="med" w="med" type="triangle"/>
          </a:ln>
        </p:spPr>
      </p:cxnSp>
      <p:pic>
        <p:nvPicPr>
          <p:cNvPr id="300" name="Google Shape;300;p40"/>
          <p:cNvPicPr preferRelativeResize="0"/>
          <p:nvPr/>
        </p:nvPicPr>
        <p:blipFill>
          <a:blip r:embed="rId6">
            <a:alphaModFix/>
          </a:blip>
          <a:stretch>
            <a:fillRect/>
          </a:stretch>
        </p:blipFill>
        <p:spPr>
          <a:xfrm>
            <a:off x="978425" y="2403725"/>
            <a:ext cx="726325" cy="726325"/>
          </a:xfrm>
          <a:prstGeom prst="rect">
            <a:avLst/>
          </a:prstGeom>
          <a:noFill/>
          <a:ln>
            <a:noFill/>
          </a:ln>
        </p:spPr>
      </p:pic>
      <p:pic>
        <p:nvPicPr>
          <p:cNvPr id="301" name="Google Shape;301;p40"/>
          <p:cNvPicPr preferRelativeResize="0"/>
          <p:nvPr/>
        </p:nvPicPr>
        <p:blipFill>
          <a:blip r:embed="rId7">
            <a:alphaModFix/>
          </a:blip>
          <a:stretch>
            <a:fillRect/>
          </a:stretch>
        </p:blipFill>
        <p:spPr>
          <a:xfrm>
            <a:off x="863550" y="1051275"/>
            <a:ext cx="461700" cy="461700"/>
          </a:xfrm>
          <a:prstGeom prst="rect">
            <a:avLst/>
          </a:prstGeom>
          <a:noFill/>
          <a:ln>
            <a:noFill/>
          </a:ln>
        </p:spPr>
      </p:pic>
      <p:cxnSp>
        <p:nvCxnSpPr>
          <p:cNvPr id="302" name="Google Shape;302;p40"/>
          <p:cNvCxnSpPr/>
          <p:nvPr/>
        </p:nvCxnSpPr>
        <p:spPr>
          <a:xfrm flipH="1" rot="10800000">
            <a:off x="1032438" y="1251775"/>
            <a:ext cx="618300" cy="536400"/>
          </a:xfrm>
          <a:prstGeom prst="straightConnector1">
            <a:avLst/>
          </a:prstGeom>
          <a:noFill/>
          <a:ln cap="flat" cmpd="sng" w="19050">
            <a:solidFill>
              <a:srgbClr val="000000"/>
            </a:solidFill>
            <a:prstDash val="solid"/>
            <a:round/>
            <a:headEnd len="med" w="med" type="none"/>
            <a:tailEnd len="med" w="med" type="none"/>
          </a:ln>
        </p:spPr>
      </p:cxnSp>
      <p:pic>
        <p:nvPicPr>
          <p:cNvPr id="303" name="Google Shape;303;p40"/>
          <p:cNvPicPr preferRelativeResize="0"/>
          <p:nvPr/>
        </p:nvPicPr>
        <p:blipFill>
          <a:blip r:embed="rId8">
            <a:alphaModFix/>
          </a:blip>
          <a:stretch>
            <a:fillRect/>
          </a:stretch>
        </p:blipFill>
        <p:spPr>
          <a:xfrm>
            <a:off x="978425" y="3650613"/>
            <a:ext cx="726324" cy="7263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7" name="Shape 307"/>
        <p:cNvGrpSpPr/>
        <p:nvPr/>
      </p:nvGrpSpPr>
      <p:grpSpPr>
        <a:xfrm>
          <a:off x="0" y="0"/>
          <a:ext cx="0" cy="0"/>
          <a:chOff x="0" y="0"/>
          <a:chExt cx="0" cy="0"/>
        </a:xfrm>
      </p:grpSpPr>
      <p:sp>
        <p:nvSpPr>
          <p:cNvPr id="308" name="Google Shape;308;p41"/>
          <p:cNvSpPr txBox="1"/>
          <p:nvPr/>
        </p:nvSpPr>
        <p:spPr>
          <a:xfrm>
            <a:off x="332250" y="77175"/>
            <a:ext cx="8479500" cy="974100"/>
          </a:xfrm>
          <a:prstGeom prst="rect">
            <a:avLst/>
          </a:prstGeom>
          <a:noFill/>
          <a:ln>
            <a:noFill/>
          </a:ln>
        </p:spPr>
        <p:txBody>
          <a:bodyPr anchorCtr="0" anchor="b" bIns="182850" lIns="182850" spcFirstLastPara="1" rIns="182850" wrap="square" tIns="182850">
            <a:noAutofit/>
          </a:bodyPr>
          <a:lstStyle/>
          <a:p>
            <a:pPr indent="0" lvl="0" marL="0" rtl="0" algn="ctr">
              <a:spcBef>
                <a:spcPts val="0"/>
              </a:spcBef>
              <a:spcAft>
                <a:spcPts val="0"/>
              </a:spcAft>
              <a:buNone/>
            </a:pPr>
            <a:r>
              <a:rPr b="1" lang="en" sz="3600">
                <a:latin typeface="Century Gothic"/>
                <a:ea typeface="Century Gothic"/>
                <a:cs typeface="Century Gothic"/>
                <a:sym typeface="Century Gothic"/>
              </a:rPr>
              <a:t>Future Direction</a:t>
            </a:r>
            <a:endParaRPr b="1" sz="3600">
              <a:solidFill>
                <a:srgbClr val="000000"/>
              </a:solidFill>
              <a:latin typeface="Century Gothic"/>
              <a:ea typeface="Century Gothic"/>
              <a:cs typeface="Century Gothic"/>
              <a:sym typeface="Century Gothic"/>
            </a:endParaRPr>
          </a:p>
        </p:txBody>
      </p:sp>
      <p:sp>
        <p:nvSpPr>
          <p:cNvPr id="309" name="Google Shape;309;p41"/>
          <p:cNvSpPr/>
          <p:nvPr/>
        </p:nvSpPr>
        <p:spPr>
          <a:xfrm>
            <a:off x="934500" y="940900"/>
            <a:ext cx="7275000" cy="1105800"/>
          </a:xfrm>
          <a:prstGeom prst="flowChartAlternateProcess">
            <a:avLst/>
          </a:prstGeom>
          <a:solidFill>
            <a:srgbClr val="701C7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lt1"/>
                </a:solidFill>
              </a:rPr>
              <a:t>Continue the Campaign with Additional LinkedIn Ads</a:t>
            </a:r>
            <a:endParaRPr b="1" sz="2400">
              <a:solidFill>
                <a:schemeClr val="lt1"/>
              </a:solidFill>
            </a:endParaRPr>
          </a:p>
        </p:txBody>
      </p:sp>
      <p:sp>
        <p:nvSpPr>
          <p:cNvPr id="310" name="Google Shape;310;p41"/>
          <p:cNvSpPr/>
          <p:nvPr/>
        </p:nvSpPr>
        <p:spPr>
          <a:xfrm>
            <a:off x="934500" y="2128413"/>
            <a:ext cx="7275000" cy="1105800"/>
          </a:xfrm>
          <a:prstGeom prst="flowChartAlternateProcess">
            <a:avLst/>
          </a:prstGeom>
          <a:solidFill>
            <a:srgbClr val="701C7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lt1"/>
                </a:solidFill>
              </a:rPr>
              <a:t>Expand Ad Platforms (Google Ads)</a:t>
            </a:r>
            <a:endParaRPr b="1" sz="2400">
              <a:solidFill>
                <a:schemeClr val="lt1"/>
              </a:solidFill>
            </a:endParaRPr>
          </a:p>
        </p:txBody>
      </p:sp>
      <p:sp>
        <p:nvSpPr>
          <p:cNvPr id="311" name="Google Shape;311;p41"/>
          <p:cNvSpPr/>
          <p:nvPr/>
        </p:nvSpPr>
        <p:spPr>
          <a:xfrm>
            <a:off x="934500" y="3315950"/>
            <a:ext cx="7275000" cy="1105800"/>
          </a:xfrm>
          <a:prstGeom prst="flowChartAlternateProcess">
            <a:avLst/>
          </a:prstGeom>
          <a:solidFill>
            <a:srgbClr val="701C7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lt1"/>
                </a:solidFill>
              </a:rPr>
              <a:t>CI/CD for Looker Studio Dashboard</a:t>
            </a:r>
            <a:endParaRPr b="1" sz="24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5" name="Shape 315"/>
        <p:cNvGrpSpPr/>
        <p:nvPr/>
      </p:nvGrpSpPr>
      <p:grpSpPr>
        <a:xfrm>
          <a:off x="0" y="0"/>
          <a:ext cx="0" cy="0"/>
          <a:chOff x="0" y="0"/>
          <a:chExt cx="0" cy="0"/>
        </a:xfrm>
      </p:grpSpPr>
      <p:sp>
        <p:nvSpPr>
          <p:cNvPr id="316" name="Google Shape;316;p42"/>
          <p:cNvSpPr txBox="1"/>
          <p:nvPr/>
        </p:nvSpPr>
        <p:spPr>
          <a:xfrm>
            <a:off x="332250" y="1869400"/>
            <a:ext cx="8479500" cy="974100"/>
          </a:xfrm>
          <a:prstGeom prst="rect">
            <a:avLst/>
          </a:prstGeom>
          <a:noFill/>
          <a:ln>
            <a:noFill/>
          </a:ln>
        </p:spPr>
        <p:txBody>
          <a:bodyPr anchorCtr="0" anchor="b" bIns="182850" lIns="182850" spcFirstLastPara="1" rIns="182850" wrap="square" tIns="182850">
            <a:noAutofit/>
          </a:bodyPr>
          <a:lstStyle/>
          <a:p>
            <a:pPr indent="0" lvl="0" marL="0" rtl="0" algn="ctr">
              <a:spcBef>
                <a:spcPts val="0"/>
              </a:spcBef>
              <a:spcAft>
                <a:spcPts val="0"/>
              </a:spcAft>
              <a:buNone/>
            </a:pPr>
            <a:r>
              <a:rPr b="1" lang="en" sz="3600">
                <a:latin typeface="Century Gothic"/>
                <a:ea typeface="Century Gothic"/>
                <a:cs typeface="Century Gothic"/>
                <a:sym typeface="Century Gothic"/>
              </a:rPr>
              <a:t>Key Takeaways</a:t>
            </a:r>
            <a:endParaRPr b="1" sz="3600">
              <a:solidFill>
                <a:srgbClr val="000000"/>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name="SOC ">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