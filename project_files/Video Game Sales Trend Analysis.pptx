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 Thin"/>
      <p:regular r:id="rId22"/>
      <p:bold r:id="rId23"/>
      <p:italic r:id="rId24"/>
      <p:boldItalic r:id="rId25"/>
    </p:embeddedFont>
    <p:embeddedFont>
      <p:font typeface="Proxima Nova"/>
      <p:regular r:id="rId26"/>
      <p:bold r:id="rId27"/>
      <p:italic r:id="rId28"/>
      <p:boldItalic r:id="rId29"/>
    </p:embeddedFont>
    <p:embeddedFont>
      <p:font typeface="Robo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Thin-regular.fntdata"/><Relationship Id="rId21" Type="http://schemas.openxmlformats.org/officeDocument/2006/relationships/slide" Target="slides/slide16.xml"/><Relationship Id="rId24" Type="http://schemas.openxmlformats.org/officeDocument/2006/relationships/font" Target="fonts/RobotoThin-italic.fntdata"/><Relationship Id="rId23" Type="http://schemas.openxmlformats.org/officeDocument/2006/relationships/font" Target="fonts/RobotoThin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regular.fntdata"/><Relationship Id="rId25" Type="http://schemas.openxmlformats.org/officeDocument/2006/relationships/font" Target="fonts/RobotoThin-boldItalic.fntdata"/><Relationship Id="rId28" Type="http://schemas.openxmlformats.org/officeDocument/2006/relationships/font" Target="fonts/ProximaNova-italic.fntdata"/><Relationship Id="rId27" Type="http://schemas.openxmlformats.org/officeDocument/2006/relationships/font" Target="fonts/ProximaNov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6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6b008acf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16b008acf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194f69bcb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194f69bcb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94f69bcb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194f69bcb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194f69bcb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194f69bcb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6b008acf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16b008acf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dataset only contains up to year ~2020 &amp; </a:t>
            </a:r>
            <a:r>
              <a:rPr lang="en"/>
              <a:t>couldn’t find dataset with video game sales for more recent years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16b008acf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16b008acf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bdb87cdb5_0_1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1bdb87cdb5_0_1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bdb87cdb5_0_1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1bdb87cdb5_0_1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bdb87cdb5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1bdb87cdb5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bdb87cdb5_0_1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1bdb87cdb5_0_1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bdb87cdb5_0_1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1bdb87cdb5_0_1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Ridge regression model: type of linear regression that helps prevent overfitting, especially when you have many related (correlated) variables. It adds a penalty to the model, which keeps the coefficients (weights) small and stable.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16b008acf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16b008acf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hot encoding: converts categorical data (like labels) into a numerical format for machine learning models. Each category becomes a new column. Rows get a 1 in the column for their category and 0 in others.</a:t>
            </a:r>
            <a:br>
              <a:rPr lang="en"/>
            </a:br>
            <a:r>
              <a:rPr lang="en"/>
              <a:t>Standardization: scales data so it has a mean of 0 and a standard deviation of 1. Makes all features contribute equally, especially when they have different units or ranges.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16b008acf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16b008acf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194f69bcb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194f69bcb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1bdb87cdb5_0_1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1bdb87cdb5_0_1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Analyzing Video Game Sales Trends for Strategic Insights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Noah Pidding</a:t>
            </a:r>
            <a:endParaRPr/>
          </a:p>
        </p:txBody>
      </p:sp>
      <p:pic>
        <p:nvPicPr>
          <p:cNvPr descr="File:Video-Game-Controller-Icon.svg - Wikimedia Commons"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7850" y="3182325"/>
            <a:ext cx="1820175" cy="182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grpSp>
        <p:nvGrpSpPr>
          <p:cNvPr id="67" name="Google Shape;67;p14"/>
          <p:cNvGrpSpPr/>
          <p:nvPr/>
        </p:nvGrpSpPr>
        <p:grpSpPr>
          <a:xfrm>
            <a:off x="4183210" y="2021638"/>
            <a:ext cx="2870363" cy="2707582"/>
            <a:chOff x="4303290" y="2158374"/>
            <a:chExt cx="1854000" cy="1854000"/>
          </a:xfrm>
        </p:grpSpPr>
        <p:sp>
          <p:nvSpPr>
            <p:cNvPr id="68" name="Google Shape;68;p14"/>
            <p:cNvSpPr/>
            <p:nvPr/>
          </p:nvSpPr>
          <p:spPr>
            <a:xfrm>
              <a:off x="4303290" y="2158374"/>
              <a:ext cx="1854000" cy="1854000"/>
            </a:xfrm>
            <a:prstGeom prst="ellipse">
              <a:avLst/>
            </a:prstGeom>
            <a:solidFill>
              <a:srgbClr val="0B7743"/>
            </a:solidFill>
            <a:ln cap="flat" cmpd="sng" w="28575">
              <a:solidFill>
                <a:srgbClr val="65F0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69" name="Google Shape;69;p14"/>
            <p:cNvSpPr txBox="1"/>
            <p:nvPr/>
          </p:nvSpPr>
          <p:spPr>
            <a:xfrm>
              <a:off x="4961128" y="2638696"/>
              <a:ext cx="1196100" cy="11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       Significance: </a:t>
              </a:r>
              <a:endParaRPr b="1" sz="13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Help stakeholders make data-driven decisions to optimize development, marketing, and inventory.</a:t>
              </a:r>
              <a:endParaRPr sz="11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70" name="Google Shape;70;p14"/>
          <p:cNvGrpSpPr/>
          <p:nvPr/>
        </p:nvGrpSpPr>
        <p:grpSpPr>
          <a:xfrm>
            <a:off x="2144884" y="2021638"/>
            <a:ext cx="2870363" cy="2707582"/>
            <a:chOff x="2986712" y="2158374"/>
            <a:chExt cx="1854000" cy="1854000"/>
          </a:xfrm>
        </p:grpSpPr>
        <p:sp>
          <p:nvSpPr>
            <p:cNvPr id="71" name="Google Shape;71;p14"/>
            <p:cNvSpPr/>
            <p:nvPr/>
          </p:nvSpPr>
          <p:spPr>
            <a:xfrm>
              <a:off x="2986712" y="2158374"/>
              <a:ext cx="1854000" cy="1854000"/>
            </a:xfrm>
            <a:prstGeom prst="ellipse">
              <a:avLst/>
            </a:prstGeom>
            <a:solidFill>
              <a:srgbClr val="0E9453"/>
            </a:solidFill>
            <a:ln cap="flat" cmpd="sng" w="28575">
              <a:solidFill>
                <a:srgbClr val="65F0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3134184" y="2571780"/>
              <a:ext cx="1320600" cy="13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Problem: </a:t>
              </a:r>
              <a:endParaRPr b="1" sz="13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The video game industry </a:t>
              </a:r>
              <a:endParaRPr sz="11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is competitive and rapidly evolving, but stakeholders often lack detailed insights into sales trends.</a:t>
              </a:r>
              <a:endParaRPr sz="11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73" name="Google Shape;73;p14"/>
          <p:cNvGrpSpPr/>
          <p:nvPr/>
        </p:nvGrpSpPr>
        <p:grpSpPr>
          <a:xfrm>
            <a:off x="3182382" y="521463"/>
            <a:ext cx="2870363" cy="2707582"/>
            <a:chOff x="3656844" y="1131139"/>
            <a:chExt cx="1854000" cy="1854000"/>
          </a:xfrm>
        </p:grpSpPr>
        <p:sp>
          <p:nvSpPr>
            <p:cNvPr id="74" name="Google Shape;74;p14"/>
            <p:cNvSpPr/>
            <p:nvPr/>
          </p:nvSpPr>
          <p:spPr>
            <a:xfrm>
              <a:off x="3656844" y="1131139"/>
              <a:ext cx="1854000" cy="1854000"/>
            </a:xfrm>
            <a:prstGeom prst="ellipse">
              <a:avLst/>
            </a:prstGeom>
            <a:solidFill>
              <a:srgbClr val="085630"/>
            </a:solidFill>
            <a:ln cap="flat" cmpd="sng" w="28575">
              <a:solidFill>
                <a:srgbClr val="65F0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5" name="Google Shape;75;p14"/>
            <p:cNvSpPr txBox="1"/>
            <p:nvPr/>
          </p:nvSpPr>
          <p:spPr>
            <a:xfrm>
              <a:off x="3938535" y="1507867"/>
              <a:ext cx="1313400" cy="10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Background</a:t>
              </a:r>
              <a:r>
                <a:rPr lang="en" sz="13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: </a:t>
              </a:r>
              <a:endParaRPr sz="13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The global video game industry, worth billions, spans consoles, PCs, and mobile platforms. With rapid growth and intense competition, understanding sales trends is crucial for success.</a:t>
              </a:r>
              <a:endParaRPr sz="11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Questions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How have </a:t>
            </a:r>
            <a:r>
              <a:rPr b="1" lang="en">
                <a:solidFill>
                  <a:schemeClr val="lt2"/>
                </a:solidFill>
              </a:rPr>
              <a:t>global video game sales</a:t>
            </a:r>
            <a:r>
              <a:rPr lang="en">
                <a:solidFill>
                  <a:schemeClr val="dk1"/>
                </a:solidFill>
              </a:rPr>
              <a:t> changed </a:t>
            </a:r>
            <a:r>
              <a:rPr b="1" lang="en">
                <a:solidFill>
                  <a:schemeClr val="accent5"/>
                </a:solidFill>
              </a:rPr>
              <a:t>over time</a:t>
            </a:r>
            <a:r>
              <a:rPr lang="en">
                <a:solidFill>
                  <a:schemeClr val="dk1"/>
                </a:solidFill>
              </a:rPr>
              <a:t>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What </a:t>
            </a:r>
            <a:r>
              <a:rPr b="1" lang="en">
                <a:solidFill>
                  <a:schemeClr val="lt2"/>
                </a:solidFill>
              </a:rPr>
              <a:t>game genres</a:t>
            </a:r>
            <a:r>
              <a:rPr lang="en">
                <a:solidFill>
                  <a:schemeClr val="dk1"/>
                </a:solidFill>
              </a:rPr>
              <a:t> tend to perform the best across </a:t>
            </a:r>
            <a:r>
              <a:rPr b="1" lang="en">
                <a:solidFill>
                  <a:schemeClr val="accent5"/>
                </a:solidFill>
              </a:rPr>
              <a:t>different regions</a:t>
            </a:r>
            <a:r>
              <a:rPr lang="en">
                <a:solidFill>
                  <a:schemeClr val="dk1"/>
                </a:solidFill>
              </a:rPr>
              <a:t>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Which </a:t>
            </a:r>
            <a:r>
              <a:rPr b="1" lang="en">
                <a:solidFill>
                  <a:schemeClr val="lt2"/>
                </a:solidFill>
              </a:rPr>
              <a:t>platforms </a:t>
            </a:r>
            <a:r>
              <a:rPr lang="en">
                <a:solidFill>
                  <a:schemeClr val="dk1"/>
                </a:solidFill>
              </a:rPr>
              <a:t>are the </a:t>
            </a:r>
            <a:r>
              <a:rPr b="1" lang="en">
                <a:solidFill>
                  <a:schemeClr val="accent5"/>
                </a:solidFill>
              </a:rPr>
              <a:t>most successful</a:t>
            </a:r>
            <a:r>
              <a:rPr lang="en">
                <a:solidFill>
                  <a:schemeClr val="dk1"/>
                </a:solidFill>
              </a:rPr>
              <a:t> in terms of sales (globally and across regions)? How have their </a:t>
            </a:r>
            <a:r>
              <a:rPr b="1" lang="en">
                <a:solidFill>
                  <a:schemeClr val="lt2"/>
                </a:solidFill>
              </a:rPr>
              <a:t>sales </a:t>
            </a:r>
            <a:r>
              <a:rPr lang="en">
                <a:solidFill>
                  <a:schemeClr val="dk1"/>
                </a:solidFill>
              </a:rPr>
              <a:t>changed over </a:t>
            </a:r>
            <a:r>
              <a:rPr b="1" lang="en">
                <a:solidFill>
                  <a:schemeClr val="accent5"/>
                </a:solidFill>
              </a:rPr>
              <a:t>time</a:t>
            </a:r>
            <a:r>
              <a:rPr lang="en">
                <a:solidFill>
                  <a:schemeClr val="dk1"/>
                </a:solidFill>
              </a:rPr>
              <a:t>?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8871" y="83971"/>
            <a:ext cx="1412125" cy="141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grpSp>
        <p:nvGrpSpPr>
          <p:cNvPr id="88" name="Google Shape;88;p16"/>
          <p:cNvGrpSpPr/>
          <p:nvPr/>
        </p:nvGrpSpPr>
        <p:grpSpPr>
          <a:xfrm>
            <a:off x="0" y="1189989"/>
            <a:ext cx="2694504" cy="3217636"/>
            <a:chOff x="0" y="1189989"/>
            <a:chExt cx="2214600" cy="3217636"/>
          </a:xfrm>
        </p:grpSpPr>
        <p:sp>
          <p:nvSpPr>
            <p:cNvPr id="89" name="Google Shape;89;p16"/>
            <p:cNvSpPr/>
            <p:nvPr/>
          </p:nvSpPr>
          <p:spPr>
            <a:xfrm>
              <a:off x="0" y="1189989"/>
              <a:ext cx="2214600" cy="669000"/>
            </a:xfrm>
            <a:prstGeom prst="homePlate">
              <a:avLst>
                <a:gd fmla="val 50000" name="adj"/>
              </a:avLst>
            </a:prstGeom>
            <a:solidFill>
              <a:srgbClr val="274E1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Analyze Global </a:t>
              </a:r>
              <a:endParaRPr sz="1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Sales Trends</a:t>
              </a:r>
              <a:endParaRPr sz="1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90" name="Google Shape;90;p16"/>
            <p:cNvSpPr txBox="1"/>
            <p:nvPr/>
          </p:nvSpPr>
          <p:spPr>
            <a:xfrm>
              <a:off x="2950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Proxima Nova"/>
                  <a:ea typeface="Proxima Nova"/>
                  <a:cs typeface="Proxima Nova"/>
                  <a:sym typeface="Proxima Nova"/>
                </a:rPr>
                <a:t>Identify how video game sales have evolved over time. </a:t>
              </a: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91" name="Google Shape;91;p16"/>
          <p:cNvGrpSpPr/>
          <p:nvPr/>
        </p:nvGrpSpPr>
        <p:grpSpPr>
          <a:xfrm>
            <a:off x="2236690" y="1189775"/>
            <a:ext cx="2511269" cy="3217850"/>
            <a:chOff x="1838325" y="1189775"/>
            <a:chExt cx="2064000" cy="3217850"/>
          </a:xfrm>
        </p:grpSpPr>
        <p:sp>
          <p:nvSpPr>
            <p:cNvPr id="92" name="Google Shape;92;p16"/>
            <p:cNvSpPr/>
            <p:nvPr/>
          </p:nvSpPr>
          <p:spPr>
            <a:xfrm>
              <a:off x="18383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Evaluate Platform Performance</a:t>
              </a:r>
              <a:endParaRPr sz="1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93" name="Google Shape;93;p16"/>
            <p:cNvSpPr txBox="1"/>
            <p:nvPr/>
          </p:nvSpPr>
          <p:spPr>
            <a:xfrm>
              <a:off x="20172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Proxima Nova"/>
                  <a:ea typeface="Proxima Nova"/>
                  <a:cs typeface="Proxima Nova"/>
                  <a:sym typeface="Proxima Nova"/>
                </a:rPr>
                <a:t>Determine which platforms are most successful in terms of year and region. </a:t>
              </a: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94" name="Google Shape;94;p16"/>
          <p:cNvGrpSpPr/>
          <p:nvPr/>
        </p:nvGrpSpPr>
        <p:grpSpPr>
          <a:xfrm>
            <a:off x="4278829" y="1189775"/>
            <a:ext cx="2511269" cy="3217850"/>
            <a:chOff x="3516750" y="1189775"/>
            <a:chExt cx="2064000" cy="3217850"/>
          </a:xfrm>
        </p:grpSpPr>
        <p:sp>
          <p:nvSpPr>
            <p:cNvPr id="95" name="Google Shape;95;p16"/>
            <p:cNvSpPr/>
            <p:nvPr/>
          </p:nvSpPr>
          <p:spPr>
            <a:xfrm>
              <a:off x="35167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6AA8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Asses Genre Popularity</a:t>
              </a:r>
              <a:endParaRPr sz="1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96" name="Google Shape;96;p16"/>
            <p:cNvSpPr txBox="1"/>
            <p:nvPr/>
          </p:nvSpPr>
          <p:spPr>
            <a:xfrm>
              <a:off x="37394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Proxima Nova"/>
                  <a:ea typeface="Proxima Nova"/>
                  <a:cs typeface="Proxima Nova"/>
                  <a:sym typeface="Proxima Nova"/>
                </a:rPr>
                <a:t>Examine which game genres perform the best within specific regions. </a:t>
              </a: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97" name="Google Shape;97;p16"/>
          <p:cNvGrpSpPr/>
          <p:nvPr/>
        </p:nvGrpSpPr>
        <p:grpSpPr>
          <a:xfrm>
            <a:off x="6321183" y="1189775"/>
            <a:ext cx="2511269" cy="3217850"/>
            <a:chOff x="5195350" y="1189775"/>
            <a:chExt cx="2064000" cy="3217850"/>
          </a:xfrm>
        </p:grpSpPr>
        <p:sp>
          <p:nvSpPr>
            <p:cNvPr id="98" name="Google Shape;98;p16"/>
            <p:cNvSpPr/>
            <p:nvPr/>
          </p:nvSpPr>
          <p:spPr>
            <a:xfrm>
              <a:off x="51953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Provide Strategic Insights</a:t>
              </a:r>
              <a:endParaRPr sz="1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99" name="Google Shape;99;p16"/>
            <p:cNvSpPr txBox="1"/>
            <p:nvPr/>
          </p:nvSpPr>
          <p:spPr>
            <a:xfrm>
              <a:off x="54616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Proxima Nova"/>
                  <a:ea typeface="Proxima Nova"/>
                  <a:cs typeface="Proxima Nova"/>
                  <a:sym typeface="Proxima Nova"/>
                </a:rPr>
                <a:t>Provide actionable recommendations to optimize game development, marketing, and inventory management.</a:t>
              </a: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</a:t>
            </a:r>
            <a:endParaRPr/>
          </a:p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Global: 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Technology as a whole has evolved over the years, leading to an overall increase in video game popularity and sales.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Genre Impact: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RPGs will be more popular in Japan, while action and sports games will dominate in North America and Europe.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Platform Preferences: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PlayStation and Xbox will lead in Western markets, while Nintendo platforms will be more successful in Japan..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6" name="Google Shape;1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4446" y="7696"/>
            <a:ext cx="1447375" cy="144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</a:t>
            </a:r>
            <a:endParaRPr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311700" y="1073325"/>
            <a:ext cx="8520600" cy="38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Description of Dataset: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Source:</a:t>
            </a:r>
            <a:r>
              <a:rPr lang="en">
                <a:solidFill>
                  <a:schemeClr val="dk1"/>
                </a:solidFill>
              </a:rPr>
              <a:t> Kaggle’s Video Game Sales Dataset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Size:</a:t>
            </a:r>
            <a:r>
              <a:rPr lang="en">
                <a:solidFill>
                  <a:schemeClr val="dk1"/>
                </a:solidFill>
              </a:rPr>
              <a:t> Contains about 16000 rows and 11 columns.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Key Variables:</a:t>
            </a:r>
            <a:endParaRPr b="1">
              <a:solidFill>
                <a:schemeClr val="dk1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Platform, Game Title, Genre, Year of Release, Regional &amp; Global Sales.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Problems in </a:t>
            </a:r>
            <a:r>
              <a:rPr b="1" lang="en">
                <a:solidFill>
                  <a:schemeClr val="dk1"/>
                </a:solidFill>
              </a:rPr>
              <a:t>Dataset: 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Missing Values: 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Converted 'Year' to numeric, coercing errors to NaN, and then dropped NaN values.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Duplicates:</a:t>
            </a:r>
            <a:endParaRPr b="1">
              <a:solidFill>
                <a:schemeClr val="dk1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Removed duplicate rows.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Platform Names:</a:t>
            </a:r>
            <a:endParaRPr b="1">
              <a:solidFill>
                <a:schemeClr val="dk1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Removed leading/trailing whitespace in 'Platform' column for consistency.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File:Kaggle logo.png - Wikipedia"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8902" y="437225"/>
            <a:ext cx="2991048" cy="115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Sales by Platform Over Time</a:t>
            </a:r>
            <a:endParaRPr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9"/>
          <p:cNvPicPr preferRelativeResize="0"/>
          <p:nvPr/>
        </p:nvPicPr>
        <p:blipFill rotWithShape="1">
          <a:blip r:embed="rId3">
            <a:alphaModFix/>
          </a:blip>
          <a:srcRect b="39232" l="0" r="0" t="3401"/>
          <a:stretch/>
        </p:blipFill>
        <p:spPr>
          <a:xfrm>
            <a:off x="401375" y="1287900"/>
            <a:ext cx="7973850" cy="26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5229" y="1602440"/>
            <a:ext cx="694948" cy="203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Platform Sales by Region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325" y="1059025"/>
            <a:ext cx="8897476" cy="363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Platform Sales by Region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650" y="1056375"/>
            <a:ext cx="8787000" cy="371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Genre Sales by Region</a:t>
            </a:r>
            <a:endParaRPr/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201" y="1000075"/>
            <a:ext cx="7311024" cy="37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Genre Sales by Region</a:t>
            </a:r>
            <a:endParaRPr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6900" y="1152475"/>
            <a:ext cx="7110201" cy="36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Analysis</a:t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311700" y="1120300"/>
            <a:ext cx="8520600" cy="3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Approach: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Conducted data cleaning (handled missing values, removed duplicates, standardized text fields).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Grouped data by platform, genre, and region to analyze sales trends and performance patterns.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Applied ridge regression model to quantify relationships between key variables.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Key Variables: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Dependent Variable: Region sales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Independent Variables/Features: Release year, Platform, Genre &amp; Publisher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6" name="Google Shape;15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3375" y="98323"/>
            <a:ext cx="2124625" cy="144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Analysis</a:t>
            </a:r>
            <a:endParaRPr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311700" y="1179000"/>
            <a:ext cx="8520600" cy="35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Methods: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One-Hot Encoding: Handled categorical variables like platform and genre.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Standardization: Scaled numerical data to ensure consistency.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Visualization: Generated trend analyses and bar charts using Matplotlib to identify patterns across genre and platforms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Model Performance: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Used Ridge regression model with Region Sales as target variables and features including key variable columns as independent variables.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MSE = 0.4 -  low MSE means the predictions are very close to the actual values of global sales.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 = 0.12 - low R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 means the model doesn’t effectively capture the relationship between the features and region sales trends.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3375" y="98323"/>
            <a:ext cx="2124625" cy="144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</a:t>
            </a:r>
            <a:endParaRPr/>
          </a:p>
        </p:txBody>
      </p:sp>
      <p:grpSp>
        <p:nvGrpSpPr>
          <p:cNvPr id="169" name="Google Shape;169;p26"/>
          <p:cNvGrpSpPr/>
          <p:nvPr/>
        </p:nvGrpSpPr>
        <p:grpSpPr>
          <a:xfrm>
            <a:off x="1129767" y="3402624"/>
            <a:ext cx="7045901" cy="1134619"/>
            <a:chOff x="1593000" y="2322568"/>
            <a:chExt cx="5957975" cy="643500"/>
          </a:xfrm>
        </p:grpSpPr>
        <p:sp>
          <p:nvSpPr>
            <p:cNvPr id="170" name="Google Shape;170;p26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6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6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B71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6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Platform Performance: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4" name="Google Shape;174;p26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6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C8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03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76" name="Google Shape;176;p26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1100"/>
                <a:buFont typeface="Roboto"/>
                <a:buChar char="●"/>
              </a:pPr>
              <a:r>
                <a:rPr lang="en" sz="11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PlayStation and Xbox lead globally, especially popular in NA and EU. </a:t>
              </a:r>
              <a:endParaRPr sz="11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1100"/>
                <a:buFont typeface="Roboto"/>
                <a:buChar char="●"/>
              </a:pPr>
              <a:r>
                <a:rPr lang="en" sz="11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Nintendo platforms like the DS are particularly popular in JP</a:t>
              </a:r>
              <a:endParaRPr sz="11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7" name="Google Shape;177;p26"/>
          <p:cNvGrpSpPr/>
          <p:nvPr/>
        </p:nvGrpSpPr>
        <p:grpSpPr>
          <a:xfrm>
            <a:off x="1129767" y="2247535"/>
            <a:ext cx="7045901" cy="1134619"/>
            <a:chOff x="1593000" y="2322568"/>
            <a:chExt cx="5957975" cy="643500"/>
          </a:xfrm>
        </p:grpSpPr>
        <p:sp>
          <p:nvSpPr>
            <p:cNvPr id="178" name="Google Shape;178;p26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6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6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B71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6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Regional Preferences: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2" name="Google Shape;182;p26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6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C8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02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84" name="Google Shape;184;p26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1100"/>
                <a:buFont typeface="Roboto"/>
                <a:buChar char="●"/>
              </a:pPr>
              <a:r>
                <a:rPr lang="en" sz="11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NA &amp; EU: Action and sports games dominate.</a:t>
              </a:r>
              <a:endParaRPr sz="11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1100"/>
                <a:buFont typeface="Roboto"/>
                <a:buChar char="●"/>
              </a:pPr>
              <a:r>
                <a:rPr lang="en" sz="11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Japan: RPGs are the most popular genre.</a:t>
              </a:r>
              <a:endParaRPr sz="11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5" name="Google Shape;185;p26"/>
          <p:cNvGrpSpPr/>
          <p:nvPr/>
        </p:nvGrpSpPr>
        <p:grpSpPr>
          <a:xfrm>
            <a:off x="1129767" y="1092430"/>
            <a:ext cx="7045901" cy="1134619"/>
            <a:chOff x="1593000" y="2322568"/>
            <a:chExt cx="5957975" cy="643500"/>
          </a:xfrm>
        </p:grpSpPr>
        <p:sp>
          <p:nvSpPr>
            <p:cNvPr id="186" name="Google Shape;186;p26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6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6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B71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6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Global Sales Trends: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0" name="Google Shape;190;p26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6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C8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01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92" name="Google Shape;192;p26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1100"/>
                <a:buFont typeface="Roboto"/>
                <a:buChar char="●"/>
              </a:pPr>
              <a:r>
                <a:rPr lang="en" sz="11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Sales have generally increased, peaks from 1995-2015 (new console </a:t>
              </a:r>
              <a:r>
                <a:rPr lang="en" sz="11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releases</a:t>
              </a:r>
              <a:r>
                <a:rPr lang="en" sz="11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). </a:t>
              </a:r>
              <a:endParaRPr sz="11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93" name="Google Shape;19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1552" y="-1"/>
            <a:ext cx="1092448" cy="109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 &amp; Recommendations</a:t>
            </a:r>
            <a:endParaRPr/>
          </a:p>
        </p:txBody>
      </p:sp>
      <p:sp>
        <p:nvSpPr>
          <p:cNvPr id="199" name="Google Shape;199;p27"/>
          <p:cNvSpPr txBox="1"/>
          <p:nvPr>
            <p:ph idx="1" type="body"/>
          </p:nvPr>
        </p:nvSpPr>
        <p:spPr>
          <a:xfrm>
            <a:off x="311700" y="1143775"/>
            <a:ext cx="8520600" cy="37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Developers: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Align game development with regional preferences (e.g., RPGs in Japan, action/sports games in North America/Europe) to boost engagement and profitability.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Plan major releases alongside new console launches to maximize impact.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Publishers: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Tailor marketing campaigns to regional genre popularity.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Focus on PlayStation and Xbox for Western markets and Nintendo platforms for Japan.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Retailers: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Optimize inventory and promotions based on regional and seasonal trends (e.g., RPGs in Japan during holidays, sports games in Europe during events) to reduce costs and improve customer satisfaction.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0" name="Google Shape;20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4854" y="77725"/>
            <a:ext cx="1438296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